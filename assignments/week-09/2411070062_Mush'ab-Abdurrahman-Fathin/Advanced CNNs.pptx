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3" r:id="rId3"/>
  </p:sldMasterIdLst>
  <p:sldIdLst>
    <p:sldId id="256" r:id="rId4"/>
    <p:sldId id="257" r:id="rId5"/>
    <p:sldId id="258" r:id="rId6"/>
    <p:sldId id="259" r:id="rId7"/>
    <p:sldId id="268" r:id="rId8"/>
    <p:sldId id="269" r:id="rId9"/>
    <p:sldId id="270" r:id="rId10"/>
    <p:sldId id="260" r:id="rId11"/>
    <p:sldId id="271" r:id="rId12"/>
    <p:sldId id="261" r:id="rId13"/>
    <p:sldId id="273" r:id="rId14"/>
    <p:sldId id="262" r:id="rId15"/>
    <p:sldId id="272" r:id="rId16"/>
    <p:sldId id="263" r:id="rId17"/>
    <p:sldId id="265" r:id="rId18"/>
    <p:sldId id="264" r:id="rId19"/>
    <p:sldId id="274" r:id="rId20"/>
    <p:sldId id="266" r:id="rId21"/>
    <p:sldId id="267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9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0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1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2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4" name="Google Shape;920;p19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921;p19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922;p19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923;p19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924;p19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925;p19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0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1" name="Google Shape;927;p19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928;p19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929;p19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930;p19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6" name="Google Shape;932;p19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933;p19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934;p19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935;p19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1" name="Google Shape;937;p19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38;p19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39;p19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40;p19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41;p19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42;p19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68" name="Google Shape;944;p19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45;p19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46;p19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1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2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3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5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2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7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7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8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1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2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5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6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11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12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13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114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8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119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25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26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27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28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4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35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9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40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45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8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49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53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57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58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9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60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1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2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3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4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5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66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67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71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72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3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4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5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76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77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78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9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0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1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2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3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4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85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7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8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89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90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1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3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4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95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6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7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8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99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0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1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2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203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06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207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9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210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211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212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220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160" bIns="74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3263580" y="1590120"/>
            <a:ext cx="5781600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Implementasi</a:t>
            </a:r>
            <a:r>
              <a:rPr lang="en-US" sz="32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 Convolutional Neural Network (CNN) </a:t>
            </a:r>
            <a:r>
              <a:rPr lang="en-US" sz="32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untuk</a:t>
            </a:r>
            <a:r>
              <a:rPr lang="en-US" sz="32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 </a:t>
            </a:r>
            <a:r>
              <a:rPr lang="en-US" sz="32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Klasifikasi</a:t>
            </a:r>
            <a:r>
              <a:rPr lang="en-US" sz="32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 Gambar </a:t>
            </a:r>
            <a:r>
              <a:rPr lang="en-US" sz="32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Berwarna</a:t>
            </a:r>
            <a:r>
              <a:rPr lang="en-US" sz="32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.</a:t>
            </a:r>
            <a:endParaRPr lang="fr-FR" sz="32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ubTitle"/>
          </p:nvPr>
        </p:nvSpPr>
        <p:spPr>
          <a:xfrm>
            <a:off x="4572000" y="3571920"/>
            <a:ext cx="4086000" cy="7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Disusun</a:t>
            </a: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 Oleh : 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 </a:t>
            </a:r>
            <a:r>
              <a:rPr lang="en-US" sz="1800" b="0" u="none" strike="noStrike" dirty="0" err="1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Sholahuddin</a:t>
            </a: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 Yusuf Al </a:t>
            </a:r>
            <a:r>
              <a:rPr lang="en-US" sz="1800" b="0" u="none" strike="noStrike" dirty="0" err="1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Ayubi</a:t>
            </a: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 – 2411070071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Mush’ab</a:t>
            </a: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 Abdurrahman </a:t>
            </a:r>
            <a:r>
              <a:rPr lang="en-US" sz="1800" b="0" u="none" strike="noStrike" dirty="0" err="1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Fatin</a:t>
            </a: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 </a:t>
            </a:r>
            <a:r>
              <a:rPr lang="en-US" sz="1800" dirty="0">
                <a:solidFill>
                  <a:schemeClr val="accent1"/>
                </a:solidFill>
                <a:latin typeface="Barlow Semi Condensed Medium"/>
                <a:ea typeface="Barlow Semi Condensed Medium"/>
              </a:rPr>
              <a:t>- </a:t>
            </a:r>
            <a:r>
              <a:rPr lang="en-US" sz="18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2411070062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42026-69D5-4091-8A0A-15D3047CBD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69" y="176940"/>
            <a:ext cx="760501" cy="7558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04BA5C9-0AEA-4573-BBAB-1304DD6EF9F7}"/>
              </a:ext>
            </a:extLst>
          </p:cNvPr>
          <p:cNvGrpSpPr/>
          <p:nvPr/>
        </p:nvGrpSpPr>
        <p:grpSpPr>
          <a:xfrm>
            <a:off x="1237680" y="187200"/>
            <a:ext cx="1098720" cy="1125720"/>
            <a:chOff x="3732480" y="527040"/>
            <a:chExt cx="1678680" cy="1678680"/>
          </a:xfrm>
        </p:grpSpPr>
        <p:grpSp>
          <p:nvGrpSpPr>
            <p:cNvPr id="415" name="Google Shape;2218;p40"/>
            <p:cNvGrpSpPr/>
            <p:nvPr/>
          </p:nvGrpSpPr>
          <p:grpSpPr>
            <a:xfrm>
              <a:off x="3732480" y="527040"/>
              <a:ext cx="1678680" cy="1678680"/>
              <a:chOff x="3732480" y="527040"/>
              <a:chExt cx="1678680" cy="1678680"/>
            </a:xfrm>
          </p:grpSpPr>
          <p:sp>
            <p:nvSpPr>
              <p:cNvPr id="416" name="Google Shape;2219;p40"/>
              <p:cNvSpPr/>
              <p:nvPr/>
            </p:nvSpPr>
            <p:spPr>
              <a:xfrm>
                <a:off x="3732480" y="527040"/>
                <a:ext cx="1678680" cy="1678680"/>
              </a:xfrm>
              <a:prstGeom prst="ellipse">
                <a:avLst/>
              </a:prstGeom>
              <a:solidFill>
                <a:srgbClr val="77C6FC"/>
              </a:solidFill>
              <a:ln w="9525">
                <a:solidFill>
                  <a:srgbClr val="49494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2220;p40"/>
              <p:cNvSpPr/>
              <p:nvPr/>
            </p:nvSpPr>
            <p:spPr>
              <a:xfrm>
                <a:off x="3956400" y="750960"/>
                <a:ext cx="1230480" cy="12304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49494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18" name="Google Shape;2221;p40"/>
            <p:cNvGrpSpPr/>
            <p:nvPr/>
          </p:nvGrpSpPr>
          <p:grpSpPr>
            <a:xfrm>
              <a:off x="4276440" y="1071000"/>
              <a:ext cx="591120" cy="590400"/>
              <a:chOff x="4276440" y="1071000"/>
              <a:chExt cx="591120" cy="590400"/>
            </a:xfrm>
          </p:grpSpPr>
          <p:sp>
            <p:nvSpPr>
              <p:cNvPr id="419" name="Google Shape;2222;p40"/>
              <p:cNvSpPr/>
              <p:nvPr/>
            </p:nvSpPr>
            <p:spPr>
              <a:xfrm>
                <a:off x="4276440" y="1073520"/>
                <a:ext cx="591120" cy="587880"/>
              </a:xfrm>
              <a:custGeom>
                <a:avLst/>
                <a:gdLst>
                  <a:gd name="textAreaLeft" fmla="*/ 0 w 591120"/>
                  <a:gd name="textAreaRight" fmla="*/ 591480 w 591120"/>
                  <a:gd name="textAreaTop" fmla="*/ 0 h 587880"/>
                  <a:gd name="textAreaBottom" fmla="*/ 588240 h 587880"/>
                </a:gdLst>
                <a:ahLst/>
                <a:cxnLst/>
                <a:rect l="textAreaLeft" t="textAreaTop" r="textAreaRight" b="textAreaBottom"/>
                <a:pathLst>
                  <a:path w="209550" h="208413">
                    <a:moveTo>
                      <a:pt x="149830" y="7449"/>
                    </a:moveTo>
                    <a:lnTo>
                      <a:pt x="163530" y="9379"/>
                    </a:lnTo>
                    <a:lnTo>
                      <a:pt x="162179" y="19412"/>
                    </a:lnTo>
                    <a:cubicBezTo>
                      <a:pt x="161311" y="25105"/>
                      <a:pt x="165267" y="30411"/>
                      <a:pt x="170959" y="31279"/>
                    </a:cubicBezTo>
                    <a:cubicBezTo>
                      <a:pt x="171435" y="31345"/>
                      <a:pt x="171909" y="31377"/>
                      <a:pt x="172378" y="31377"/>
                    </a:cubicBezTo>
                    <a:cubicBezTo>
                      <a:pt x="174663" y="31377"/>
                      <a:pt x="176836" y="30614"/>
                      <a:pt x="178677" y="29253"/>
                    </a:cubicBezTo>
                    <a:lnTo>
                      <a:pt x="186878" y="23175"/>
                    </a:lnTo>
                    <a:lnTo>
                      <a:pt x="195175" y="34270"/>
                    </a:lnTo>
                    <a:lnTo>
                      <a:pt x="187071" y="40348"/>
                    </a:lnTo>
                    <a:cubicBezTo>
                      <a:pt x="182440" y="43821"/>
                      <a:pt x="181475" y="50382"/>
                      <a:pt x="184948" y="54916"/>
                    </a:cubicBezTo>
                    <a:cubicBezTo>
                      <a:pt x="186588" y="57135"/>
                      <a:pt x="189097" y="58679"/>
                      <a:pt x="191798" y="59065"/>
                    </a:cubicBezTo>
                    <a:lnTo>
                      <a:pt x="201832" y="60415"/>
                    </a:lnTo>
                    <a:lnTo>
                      <a:pt x="199902" y="74212"/>
                    </a:lnTo>
                    <a:lnTo>
                      <a:pt x="189869" y="72765"/>
                    </a:lnTo>
                    <a:cubicBezTo>
                      <a:pt x="189391" y="72700"/>
                      <a:pt x="188917" y="72668"/>
                      <a:pt x="188447" y="72668"/>
                    </a:cubicBezTo>
                    <a:cubicBezTo>
                      <a:pt x="183318" y="72668"/>
                      <a:pt x="178797" y="76426"/>
                      <a:pt x="178002" y="81641"/>
                    </a:cubicBezTo>
                    <a:cubicBezTo>
                      <a:pt x="177616" y="84342"/>
                      <a:pt x="178388" y="87140"/>
                      <a:pt x="180028" y="89359"/>
                    </a:cubicBezTo>
                    <a:lnTo>
                      <a:pt x="186106" y="97463"/>
                    </a:lnTo>
                    <a:lnTo>
                      <a:pt x="175011" y="105760"/>
                    </a:lnTo>
                    <a:lnTo>
                      <a:pt x="168933" y="97656"/>
                    </a:lnTo>
                    <a:cubicBezTo>
                      <a:pt x="166888" y="94930"/>
                      <a:pt x="163773" y="93507"/>
                      <a:pt x="160632" y="93507"/>
                    </a:cubicBezTo>
                    <a:cubicBezTo>
                      <a:pt x="158437" y="93507"/>
                      <a:pt x="156230" y="94201"/>
                      <a:pt x="154365" y="95630"/>
                    </a:cubicBezTo>
                    <a:cubicBezTo>
                      <a:pt x="152146" y="97270"/>
                      <a:pt x="150698" y="99682"/>
                      <a:pt x="150216" y="102480"/>
                    </a:cubicBezTo>
                    <a:lnTo>
                      <a:pt x="148865" y="112514"/>
                    </a:lnTo>
                    <a:lnTo>
                      <a:pt x="135069" y="110584"/>
                    </a:lnTo>
                    <a:lnTo>
                      <a:pt x="136516" y="100454"/>
                    </a:lnTo>
                    <a:cubicBezTo>
                      <a:pt x="137385" y="94762"/>
                      <a:pt x="133429" y="89552"/>
                      <a:pt x="127737" y="88683"/>
                    </a:cubicBezTo>
                    <a:cubicBezTo>
                      <a:pt x="127260" y="88618"/>
                      <a:pt x="126787" y="88586"/>
                      <a:pt x="126318" y="88586"/>
                    </a:cubicBezTo>
                    <a:cubicBezTo>
                      <a:pt x="124033" y="88586"/>
                      <a:pt x="121860" y="89349"/>
                      <a:pt x="120019" y="90710"/>
                    </a:cubicBezTo>
                    <a:lnTo>
                      <a:pt x="111818" y="96788"/>
                    </a:lnTo>
                    <a:lnTo>
                      <a:pt x="103521" y="85693"/>
                    </a:lnTo>
                    <a:lnTo>
                      <a:pt x="111625" y="79615"/>
                    </a:lnTo>
                    <a:cubicBezTo>
                      <a:pt x="116256" y="76141"/>
                      <a:pt x="117221" y="69581"/>
                      <a:pt x="113747" y="64950"/>
                    </a:cubicBezTo>
                    <a:cubicBezTo>
                      <a:pt x="112107" y="62731"/>
                      <a:pt x="109599" y="61284"/>
                      <a:pt x="106898" y="60898"/>
                    </a:cubicBezTo>
                    <a:lnTo>
                      <a:pt x="96767" y="59451"/>
                    </a:lnTo>
                    <a:lnTo>
                      <a:pt x="98793" y="45751"/>
                    </a:lnTo>
                    <a:lnTo>
                      <a:pt x="108827" y="47198"/>
                    </a:lnTo>
                    <a:cubicBezTo>
                      <a:pt x="109304" y="47263"/>
                      <a:pt x="109779" y="47294"/>
                      <a:pt x="110248" y="47294"/>
                    </a:cubicBezTo>
                    <a:cubicBezTo>
                      <a:pt x="115377" y="47294"/>
                      <a:pt x="119890" y="43537"/>
                      <a:pt x="120597" y="38322"/>
                    </a:cubicBezTo>
                    <a:cubicBezTo>
                      <a:pt x="120983" y="35621"/>
                      <a:pt x="120308" y="32823"/>
                      <a:pt x="118668" y="30604"/>
                    </a:cubicBezTo>
                    <a:lnTo>
                      <a:pt x="112493" y="22500"/>
                    </a:lnTo>
                    <a:lnTo>
                      <a:pt x="123588" y="14106"/>
                    </a:lnTo>
                    <a:lnTo>
                      <a:pt x="129763" y="22307"/>
                    </a:lnTo>
                    <a:cubicBezTo>
                      <a:pt x="131820" y="24993"/>
                      <a:pt x="134928" y="26427"/>
                      <a:pt x="138082" y="26427"/>
                    </a:cubicBezTo>
                    <a:cubicBezTo>
                      <a:pt x="140252" y="26427"/>
                      <a:pt x="142444" y="25748"/>
                      <a:pt x="144331" y="24333"/>
                    </a:cubicBezTo>
                    <a:cubicBezTo>
                      <a:pt x="146550" y="22693"/>
                      <a:pt x="147997" y="20184"/>
                      <a:pt x="148383" y="17483"/>
                    </a:cubicBezTo>
                    <a:lnTo>
                      <a:pt x="149830" y="7449"/>
                    </a:lnTo>
                    <a:close/>
                    <a:moveTo>
                      <a:pt x="45248" y="107690"/>
                    </a:moveTo>
                    <a:cubicBezTo>
                      <a:pt x="48432" y="114540"/>
                      <a:pt x="52870" y="120811"/>
                      <a:pt x="58176" y="126213"/>
                    </a:cubicBezTo>
                    <a:cubicBezTo>
                      <a:pt x="56131" y="131893"/>
                      <a:pt x="50817" y="135433"/>
                      <a:pt x="45127" y="135433"/>
                    </a:cubicBezTo>
                    <a:cubicBezTo>
                      <a:pt x="43568" y="135433"/>
                      <a:pt x="41980" y="135167"/>
                      <a:pt x="40424" y="134607"/>
                    </a:cubicBezTo>
                    <a:cubicBezTo>
                      <a:pt x="33188" y="132002"/>
                      <a:pt x="29426" y="124091"/>
                      <a:pt x="32031" y="116855"/>
                    </a:cubicBezTo>
                    <a:cubicBezTo>
                      <a:pt x="34057" y="111356"/>
                      <a:pt x="39267" y="107690"/>
                      <a:pt x="45152" y="107690"/>
                    </a:cubicBezTo>
                    <a:close/>
                    <a:moveTo>
                      <a:pt x="39845" y="89166"/>
                    </a:moveTo>
                    <a:cubicBezTo>
                      <a:pt x="40328" y="93121"/>
                      <a:pt x="41293" y="97077"/>
                      <a:pt x="42547" y="100936"/>
                    </a:cubicBezTo>
                    <a:cubicBezTo>
                      <a:pt x="31162" y="102287"/>
                      <a:pt x="22962" y="112610"/>
                      <a:pt x="24312" y="124091"/>
                    </a:cubicBezTo>
                    <a:cubicBezTo>
                      <a:pt x="25565" y="134650"/>
                      <a:pt x="34620" y="142471"/>
                      <a:pt x="45011" y="142471"/>
                    </a:cubicBezTo>
                    <a:cubicBezTo>
                      <a:pt x="45822" y="142471"/>
                      <a:pt x="46642" y="142423"/>
                      <a:pt x="47467" y="142325"/>
                    </a:cubicBezTo>
                    <a:cubicBezTo>
                      <a:pt x="54414" y="141457"/>
                      <a:pt x="60395" y="137308"/>
                      <a:pt x="63579" y="131134"/>
                    </a:cubicBezTo>
                    <a:cubicBezTo>
                      <a:pt x="65412" y="132677"/>
                      <a:pt x="67438" y="134125"/>
                      <a:pt x="69464" y="135475"/>
                    </a:cubicBezTo>
                    <a:cubicBezTo>
                      <a:pt x="72744" y="137501"/>
                      <a:pt x="75253" y="140685"/>
                      <a:pt x="76507" y="144351"/>
                    </a:cubicBezTo>
                    <a:lnTo>
                      <a:pt x="69078" y="151780"/>
                    </a:lnTo>
                    <a:lnTo>
                      <a:pt x="61842" y="146763"/>
                    </a:lnTo>
                    <a:cubicBezTo>
                      <a:pt x="60637" y="145960"/>
                      <a:pt x="59266" y="145571"/>
                      <a:pt x="57911" y="145571"/>
                    </a:cubicBezTo>
                    <a:cubicBezTo>
                      <a:pt x="55689" y="145571"/>
                      <a:pt x="53513" y="146618"/>
                      <a:pt x="52195" y="148596"/>
                    </a:cubicBezTo>
                    <a:cubicBezTo>
                      <a:pt x="51616" y="149368"/>
                      <a:pt x="51326" y="150236"/>
                      <a:pt x="51133" y="151105"/>
                    </a:cubicBezTo>
                    <a:lnTo>
                      <a:pt x="49300" y="159788"/>
                    </a:lnTo>
                    <a:lnTo>
                      <a:pt x="41003" y="159788"/>
                    </a:lnTo>
                    <a:lnTo>
                      <a:pt x="39170" y="151105"/>
                    </a:lnTo>
                    <a:cubicBezTo>
                      <a:pt x="38495" y="147815"/>
                      <a:pt x="35608" y="145558"/>
                      <a:pt x="32379" y="145558"/>
                    </a:cubicBezTo>
                    <a:cubicBezTo>
                      <a:pt x="31914" y="145558"/>
                      <a:pt x="31443" y="145605"/>
                      <a:pt x="30969" y="145702"/>
                    </a:cubicBezTo>
                    <a:cubicBezTo>
                      <a:pt x="30101" y="145895"/>
                      <a:pt x="29233" y="146281"/>
                      <a:pt x="28461" y="146860"/>
                    </a:cubicBezTo>
                    <a:lnTo>
                      <a:pt x="21225" y="151780"/>
                    </a:lnTo>
                    <a:lnTo>
                      <a:pt x="14954" y="145509"/>
                    </a:lnTo>
                    <a:lnTo>
                      <a:pt x="19874" y="138273"/>
                    </a:lnTo>
                    <a:cubicBezTo>
                      <a:pt x="22093" y="135089"/>
                      <a:pt x="21322" y="130748"/>
                      <a:pt x="18138" y="128625"/>
                    </a:cubicBezTo>
                    <a:cubicBezTo>
                      <a:pt x="17366" y="128046"/>
                      <a:pt x="16498" y="127661"/>
                      <a:pt x="15629" y="127468"/>
                    </a:cubicBezTo>
                    <a:lnTo>
                      <a:pt x="6946" y="125731"/>
                    </a:lnTo>
                    <a:lnTo>
                      <a:pt x="6946" y="117434"/>
                    </a:lnTo>
                    <a:lnTo>
                      <a:pt x="15629" y="115601"/>
                    </a:lnTo>
                    <a:cubicBezTo>
                      <a:pt x="19392" y="114829"/>
                      <a:pt x="21708" y="111163"/>
                      <a:pt x="20936" y="107400"/>
                    </a:cubicBezTo>
                    <a:cubicBezTo>
                      <a:pt x="20743" y="106532"/>
                      <a:pt x="20453" y="105664"/>
                      <a:pt x="19874" y="104892"/>
                    </a:cubicBezTo>
                    <a:lnTo>
                      <a:pt x="14954" y="97656"/>
                    </a:lnTo>
                    <a:lnTo>
                      <a:pt x="21225" y="91385"/>
                    </a:lnTo>
                    <a:lnTo>
                      <a:pt x="28461" y="96305"/>
                    </a:lnTo>
                    <a:cubicBezTo>
                      <a:pt x="29670" y="97148"/>
                      <a:pt x="31045" y="97545"/>
                      <a:pt x="32403" y="97545"/>
                    </a:cubicBezTo>
                    <a:cubicBezTo>
                      <a:pt x="34621" y="97545"/>
                      <a:pt x="36792" y="96484"/>
                      <a:pt x="38109" y="94569"/>
                    </a:cubicBezTo>
                    <a:cubicBezTo>
                      <a:pt x="38688" y="93797"/>
                      <a:pt x="38977" y="92929"/>
                      <a:pt x="39170" y="92060"/>
                    </a:cubicBezTo>
                    <a:lnTo>
                      <a:pt x="39845" y="89166"/>
                    </a:lnTo>
                    <a:close/>
                    <a:moveTo>
                      <a:pt x="118957" y="177154"/>
                    </a:moveTo>
                    <a:lnTo>
                      <a:pt x="118957" y="184100"/>
                    </a:lnTo>
                    <a:lnTo>
                      <a:pt x="91172" y="184100"/>
                    </a:lnTo>
                    <a:lnTo>
                      <a:pt x="91172" y="177154"/>
                    </a:lnTo>
                    <a:close/>
                    <a:moveTo>
                      <a:pt x="118957" y="191047"/>
                    </a:moveTo>
                    <a:lnTo>
                      <a:pt x="118957" y="194520"/>
                    </a:lnTo>
                    <a:cubicBezTo>
                      <a:pt x="118957" y="198282"/>
                      <a:pt x="115870" y="201466"/>
                      <a:pt x="112011" y="201466"/>
                    </a:cubicBezTo>
                    <a:lnTo>
                      <a:pt x="98118" y="201466"/>
                    </a:lnTo>
                    <a:cubicBezTo>
                      <a:pt x="94355" y="201466"/>
                      <a:pt x="91172" y="198282"/>
                      <a:pt x="91172" y="194520"/>
                    </a:cubicBezTo>
                    <a:lnTo>
                      <a:pt x="91172" y="191047"/>
                    </a:lnTo>
                    <a:close/>
                    <a:moveTo>
                      <a:pt x="146950" y="1"/>
                    </a:moveTo>
                    <a:cubicBezTo>
                      <a:pt x="145260" y="1"/>
                      <a:pt x="143732" y="1213"/>
                      <a:pt x="143463" y="3011"/>
                    </a:cubicBezTo>
                    <a:lnTo>
                      <a:pt x="141533" y="16518"/>
                    </a:lnTo>
                    <a:cubicBezTo>
                      <a:pt x="141272" y="18262"/>
                      <a:pt x="139828" y="19454"/>
                      <a:pt x="138129" y="19454"/>
                    </a:cubicBezTo>
                    <a:cubicBezTo>
                      <a:pt x="137948" y="19454"/>
                      <a:pt x="137763" y="19440"/>
                      <a:pt x="137577" y="19412"/>
                    </a:cubicBezTo>
                    <a:cubicBezTo>
                      <a:pt x="136709" y="19316"/>
                      <a:pt x="135841" y="18833"/>
                      <a:pt x="135262" y="18062"/>
                    </a:cubicBezTo>
                    <a:lnTo>
                      <a:pt x="127061" y="7160"/>
                    </a:lnTo>
                    <a:cubicBezTo>
                      <a:pt x="126437" y="6251"/>
                      <a:pt x="125411" y="5777"/>
                      <a:pt x="124357" y="5777"/>
                    </a:cubicBezTo>
                    <a:cubicBezTo>
                      <a:pt x="123621" y="5777"/>
                      <a:pt x="122872" y="6008"/>
                      <a:pt x="122238" y="6484"/>
                    </a:cubicBezTo>
                    <a:lnTo>
                      <a:pt x="111818" y="14299"/>
                    </a:lnTo>
                    <a:cubicBezTo>
                      <a:pt x="109454" y="14058"/>
                      <a:pt x="107090" y="13937"/>
                      <a:pt x="104727" y="13937"/>
                    </a:cubicBezTo>
                    <a:cubicBezTo>
                      <a:pt x="102363" y="13937"/>
                      <a:pt x="99999" y="14058"/>
                      <a:pt x="97636" y="14299"/>
                    </a:cubicBezTo>
                    <a:cubicBezTo>
                      <a:pt x="66666" y="17869"/>
                      <a:pt x="42450" y="42471"/>
                      <a:pt x="39459" y="73440"/>
                    </a:cubicBezTo>
                    <a:cubicBezTo>
                      <a:pt x="39363" y="74501"/>
                      <a:pt x="39267" y="75466"/>
                      <a:pt x="39267" y="76431"/>
                    </a:cubicBezTo>
                    <a:lnTo>
                      <a:pt x="38205" y="76431"/>
                    </a:lnTo>
                    <a:cubicBezTo>
                      <a:pt x="36565" y="76431"/>
                      <a:pt x="35118" y="77589"/>
                      <a:pt x="34829" y="79229"/>
                    </a:cubicBezTo>
                    <a:lnTo>
                      <a:pt x="32417" y="90613"/>
                    </a:lnTo>
                    <a:lnTo>
                      <a:pt x="22769" y="83956"/>
                    </a:lnTo>
                    <a:cubicBezTo>
                      <a:pt x="22185" y="83539"/>
                      <a:pt x="21511" y="83338"/>
                      <a:pt x="20833" y="83338"/>
                    </a:cubicBezTo>
                    <a:cubicBezTo>
                      <a:pt x="19942" y="83338"/>
                      <a:pt x="19043" y="83685"/>
                      <a:pt x="18331" y="84342"/>
                    </a:cubicBezTo>
                    <a:lnTo>
                      <a:pt x="7911" y="94762"/>
                    </a:lnTo>
                    <a:cubicBezTo>
                      <a:pt x="6753" y="96016"/>
                      <a:pt x="6560" y="97849"/>
                      <a:pt x="7525" y="99200"/>
                    </a:cubicBezTo>
                    <a:lnTo>
                      <a:pt x="14182" y="108847"/>
                    </a:lnTo>
                    <a:lnTo>
                      <a:pt x="2701" y="111259"/>
                    </a:lnTo>
                    <a:cubicBezTo>
                      <a:pt x="1158" y="111549"/>
                      <a:pt x="0" y="112996"/>
                      <a:pt x="0" y="114636"/>
                    </a:cubicBezTo>
                    <a:lnTo>
                      <a:pt x="0" y="128529"/>
                    </a:lnTo>
                    <a:cubicBezTo>
                      <a:pt x="0" y="130169"/>
                      <a:pt x="1158" y="131616"/>
                      <a:pt x="2798" y="131906"/>
                    </a:cubicBezTo>
                    <a:lnTo>
                      <a:pt x="14182" y="134318"/>
                    </a:lnTo>
                    <a:lnTo>
                      <a:pt x="7622" y="143869"/>
                    </a:lnTo>
                    <a:cubicBezTo>
                      <a:pt x="6657" y="145316"/>
                      <a:pt x="6753" y="147149"/>
                      <a:pt x="8008" y="148307"/>
                    </a:cubicBezTo>
                    <a:lnTo>
                      <a:pt x="18427" y="158726"/>
                    </a:lnTo>
                    <a:cubicBezTo>
                      <a:pt x="19085" y="159384"/>
                      <a:pt x="19960" y="159730"/>
                      <a:pt x="20858" y="159730"/>
                    </a:cubicBezTo>
                    <a:cubicBezTo>
                      <a:pt x="21542" y="159730"/>
                      <a:pt x="22240" y="159529"/>
                      <a:pt x="22865" y="159112"/>
                    </a:cubicBezTo>
                    <a:lnTo>
                      <a:pt x="32417" y="152552"/>
                    </a:lnTo>
                    <a:lnTo>
                      <a:pt x="34829" y="163936"/>
                    </a:lnTo>
                    <a:cubicBezTo>
                      <a:pt x="35118" y="165576"/>
                      <a:pt x="36565" y="166734"/>
                      <a:pt x="38205" y="166734"/>
                    </a:cubicBezTo>
                    <a:lnTo>
                      <a:pt x="52098" y="166734"/>
                    </a:lnTo>
                    <a:cubicBezTo>
                      <a:pt x="53738" y="166734"/>
                      <a:pt x="55185" y="165576"/>
                      <a:pt x="55475" y="163936"/>
                    </a:cubicBezTo>
                    <a:lnTo>
                      <a:pt x="57887" y="152552"/>
                    </a:lnTo>
                    <a:lnTo>
                      <a:pt x="67535" y="159112"/>
                    </a:lnTo>
                    <a:cubicBezTo>
                      <a:pt x="68118" y="159529"/>
                      <a:pt x="68792" y="159730"/>
                      <a:pt x="69463" y="159730"/>
                    </a:cubicBezTo>
                    <a:cubicBezTo>
                      <a:pt x="70344" y="159730"/>
                      <a:pt x="71219" y="159384"/>
                      <a:pt x="71876" y="158726"/>
                    </a:cubicBezTo>
                    <a:lnTo>
                      <a:pt x="77279" y="153324"/>
                    </a:lnTo>
                    <a:lnTo>
                      <a:pt x="77279" y="163261"/>
                    </a:lnTo>
                    <a:cubicBezTo>
                      <a:pt x="77375" y="168181"/>
                      <a:pt x="79980" y="172716"/>
                      <a:pt x="84225" y="175224"/>
                    </a:cubicBezTo>
                    <a:lnTo>
                      <a:pt x="84225" y="194520"/>
                    </a:lnTo>
                    <a:cubicBezTo>
                      <a:pt x="84225" y="202142"/>
                      <a:pt x="90496" y="208413"/>
                      <a:pt x="98118" y="208413"/>
                    </a:cubicBezTo>
                    <a:lnTo>
                      <a:pt x="112011" y="208413"/>
                    </a:lnTo>
                    <a:cubicBezTo>
                      <a:pt x="119729" y="208413"/>
                      <a:pt x="125904" y="202142"/>
                      <a:pt x="125904" y="194520"/>
                    </a:cubicBezTo>
                    <a:lnTo>
                      <a:pt x="125904" y="175224"/>
                    </a:lnTo>
                    <a:cubicBezTo>
                      <a:pt x="130245" y="172716"/>
                      <a:pt x="132850" y="168181"/>
                      <a:pt x="132850" y="163261"/>
                    </a:cubicBezTo>
                    <a:lnTo>
                      <a:pt x="132850" y="149465"/>
                    </a:lnTo>
                    <a:cubicBezTo>
                      <a:pt x="132947" y="143676"/>
                      <a:pt x="136034" y="138370"/>
                      <a:pt x="140954" y="135282"/>
                    </a:cubicBezTo>
                    <a:cubicBezTo>
                      <a:pt x="143752" y="133449"/>
                      <a:pt x="146550" y="131327"/>
                      <a:pt x="149058" y="129108"/>
                    </a:cubicBezTo>
                    <a:lnTo>
                      <a:pt x="144427" y="123898"/>
                    </a:lnTo>
                    <a:cubicBezTo>
                      <a:pt x="142208" y="125924"/>
                      <a:pt x="139700" y="127854"/>
                      <a:pt x="137095" y="129494"/>
                    </a:cubicBezTo>
                    <a:cubicBezTo>
                      <a:pt x="130245" y="133835"/>
                      <a:pt x="126000" y="141360"/>
                      <a:pt x="125904" y="149465"/>
                    </a:cubicBezTo>
                    <a:lnTo>
                      <a:pt x="125904" y="163261"/>
                    </a:lnTo>
                    <a:cubicBezTo>
                      <a:pt x="125904" y="167024"/>
                      <a:pt x="122816" y="170207"/>
                      <a:pt x="118957" y="170207"/>
                    </a:cubicBezTo>
                    <a:lnTo>
                      <a:pt x="91172" y="170207"/>
                    </a:lnTo>
                    <a:cubicBezTo>
                      <a:pt x="87409" y="170207"/>
                      <a:pt x="84225" y="167024"/>
                      <a:pt x="84225" y="163261"/>
                    </a:cubicBezTo>
                    <a:lnTo>
                      <a:pt x="84225" y="149175"/>
                    </a:lnTo>
                    <a:cubicBezTo>
                      <a:pt x="84225" y="141167"/>
                      <a:pt x="79980" y="133835"/>
                      <a:pt x="73227" y="129590"/>
                    </a:cubicBezTo>
                    <a:cubicBezTo>
                      <a:pt x="45731" y="112321"/>
                      <a:pt x="37433" y="75948"/>
                      <a:pt x="54703" y="48452"/>
                    </a:cubicBezTo>
                    <a:cubicBezTo>
                      <a:pt x="65412" y="31376"/>
                      <a:pt x="84225" y="20956"/>
                      <a:pt x="104389" y="20860"/>
                    </a:cubicBezTo>
                    <a:lnTo>
                      <a:pt x="104389" y="20860"/>
                    </a:lnTo>
                    <a:lnTo>
                      <a:pt x="104196" y="21245"/>
                    </a:lnTo>
                    <a:cubicBezTo>
                      <a:pt x="104100" y="22210"/>
                      <a:pt x="104293" y="23079"/>
                      <a:pt x="104871" y="23850"/>
                    </a:cubicBezTo>
                    <a:lnTo>
                      <a:pt x="113072" y="34752"/>
                    </a:lnTo>
                    <a:cubicBezTo>
                      <a:pt x="113940" y="35910"/>
                      <a:pt x="114037" y="37454"/>
                      <a:pt x="113265" y="38611"/>
                    </a:cubicBezTo>
                    <a:cubicBezTo>
                      <a:pt x="112694" y="39672"/>
                      <a:pt x="111572" y="40318"/>
                      <a:pt x="110423" y="40318"/>
                    </a:cubicBezTo>
                    <a:cubicBezTo>
                      <a:pt x="110212" y="40318"/>
                      <a:pt x="110001" y="40296"/>
                      <a:pt x="109792" y="40252"/>
                    </a:cubicBezTo>
                    <a:lnTo>
                      <a:pt x="96285" y="38322"/>
                    </a:lnTo>
                    <a:cubicBezTo>
                      <a:pt x="96154" y="38309"/>
                      <a:pt x="96024" y="38302"/>
                      <a:pt x="95895" y="38302"/>
                    </a:cubicBezTo>
                    <a:cubicBezTo>
                      <a:pt x="94126" y="38302"/>
                      <a:pt x="92599" y="39514"/>
                      <a:pt x="92329" y="41313"/>
                    </a:cubicBezTo>
                    <a:lnTo>
                      <a:pt x="89435" y="61959"/>
                    </a:lnTo>
                    <a:cubicBezTo>
                      <a:pt x="89146" y="63792"/>
                      <a:pt x="90496" y="65625"/>
                      <a:pt x="92329" y="65915"/>
                    </a:cubicBezTo>
                    <a:lnTo>
                      <a:pt x="105836" y="67844"/>
                    </a:lnTo>
                    <a:cubicBezTo>
                      <a:pt x="107766" y="68037"/>
                      <a:pt x="109117" y="69870"/>
                      <a:pt x="108827" y="71703"/>
                    </a:cubicBezTo>
                    <a:cubicBezTo>
                      <a:pt x="108731" y="72668"/>
                      <a:pt x="108248" y="73440"/>
                      <a:pt x="107476" y="74019"/>
                    </a:cubicBezTo>
                    <a:lnTo>
                      <a:pt x="96574" y="82219"/>
                    </a:lnTo>
                    <a:cubicBezTo>
                      <a:pt x="95031" y="83377"/>
                      <a:pt x="94741" y="85500"/>
                      <a:pt x="95899" y="87043"/>
                    </a:cubicBezTo>
                    <a:lnTo>
                      <a:pt x="108345" y="103734"/>
                    </a:lnTo>
                    <a:cubicBezTo>
                      <a:pt x="109026" y="104643"/>
                      <a:pt x="110076" y="105117"/>
                      <a:pt x="111139" y="105117"/>
                    </a:cubicBezTo>
                    <a:cubicBezTo>
                      <a:pt x="111881" y="105117"/>
                      <a:pt x="112630" y="104886"/>
                      <a:pt x="113265" y="104409"/>
                    </a:cubicBezTo>
                    <a:lnTo>
                      <a:pt x="124167" y="96209"/>
                    </a:lnTo>
                    <a:cubicBezTo>
                      <a:pt x="124776" y="95752"/>
                      <a:pt x="125475" y="95536"/>
                      <a:pt x="126169" y="95536"/>
                    </a:cubicBezTo>
                    <a:cubicBezTo>
                      <a:pt x="127235" y="95536"/>
                      <a:pt x="128290" y="96046"/>
                      <a:pt x="128991" y="96981"/>
                    </a:cubicBezTo>
                    <a:cubicBezTo>
                      <a:pt x="129570" y="97656"/>
                      <a:pt x="129763" y="98621"/>
                      <a:pt x="129666" y="99489"/>
                    </a:cubicBezTo>
                    <a:lnTo>
                      <a:pt x="127737" y="112996"/>
                    </a:lnTo>
                    <a:cubicBezTo>
                      <a:pt x="127447" y="114925"/>
                      <a:pt x="128798" y="116662"/>
                      <a:pt x="130631" y="116952"/>
                    </a:cubicBezTo>
                    <a:lnTo>
                      <a:pt x="151277" y="119942"/>
                    </a:lnTo>
                    <a:lnTo>
                      <a:pt x="151760" y="119942"/>
                    </a:lnTo>
                    <a:cubicBezTo>
                      <a:pt x="153496" y="119942"/>
                      <a:pt x="154944" y="118688"/>
                      <a:pt x="155233" y="116952"/>
                    </a:cubicBezTo>
                    <a:lnTo>
                      <a:pt x="157163" y="103445"/>
                    </a:lnTo>
                    <a:cubicBezTo>
                      <a:pt x="157432" y="101646"/>
                      <a:pt x="158959" y="100434"/>
                      <a:pt x="160728" y="100434"/>
                    </a:cubicBezTo>
                    <a:cubicBezTo>
                      <a:pt x="160857" y="100434"/>
                      <a:pt x="160987" y="100441"/>
                      <a:pt x="161118" y="100454"/>
                    </a:cubicBezTo>
                    <a:cubicBezTo>
                      <a:pt x="161986" y="100647"/>
                      <a:pt x="162855" y="101129"/>
                      <a:pt x="163337" y="101804"/>
                    </a:cubicBezTo>
                    <a:lnTo>
                      <a:pt x="171538" y="112803"/>
                    </a:lnTo>
                    <a:cubicBezTo>
                      <a:pt x="172232" y="113671"/>
                      <a:pt x="173309" y="114158"/>
                      <a:pt x="174393" y="114158"/>
                    </a:cubicBezTo>
                    <a:cubicBezTo>
                      <a:pt x="175115" y="114158"/>
                      <a:pt x="175841" y="113941"/>
                      <a:pt x="176458" y="113478"/>
                    </a:cubicBezTo>
                    <a:lnTo>
                      <a:pt x="193052" y="100936"/>
                    </a:lnTo>
                    <a:cubicBezTo>
                      <a:pt x="194596" y="99778"/>
                      <a:pt x="194982" y="97656"/>
                      <a:pt x="193824" y="96112"/>
                    </a:cubicBezTo>
                    <a:lnTo>
                      <a:pt x="185623" y="85210"/>
                    </a:lnTo>
                    <a:cubicBezTo>
                      <a:pt x="184755" y="84053"/>
                      <a:pt x="184659" y="82509"/>
                      <a:pt x="185431" y="81351"/>
                    </a:cubicBezTo>
                    <a:cubicBezTo>
                      <a:pt x="186029" y="80239"/>
                      <a:pt x="187159" y="79582"/>
                      <a:pt x="188417" y="79582"/>
                    </a:cubicBezTo>
                    <a:cubicBezTo>
                      <a:pt x="188577" y="79582"/>
                      <a:pt x="188740" y="79593"/>
                      <a:pt x="188904" y="79615"/>
                    </a:cubicBezTo>
                    <a:lnTo>
                      <a:pt x="202411" y="81544"/>
                    </a:lnTo>
                    <a:cubicBezTo>
                      <a:pt x="202587" y="81572"/>
                      <a:pt x="202764" y="81586"/>
                      <a:pt x="202939" y="81586"/>
                    </a:cubicBezTo>
                    <a:cubicBezTo>
                      <a:pt x="204582" y="81586"/>
                      <a:pt x="206095" y="80393"/>
                      <a:pt x="206270" y="78650"/>
                    </a:cubicBezTo>
                    <a:lnTo>
                      <a:pt x="209261" y="58004"/>
                    </a:lnTo>
                    <a:cubicBezTo>
                      <a:pt x="209550" y="56074"/>
                      <a:pt x="208199" y="54337"/>
                      <a:pt x="206270" y="54048"/>
                    </a:cubicBezTo>
                    <a:lnTo>
                      <a:pt x="192763" y="52118"/>
                    </a:lnTo>
                    <a:cubicBezTo>
                      <a:pt x="190930" y="51829"/>
                      <a:pt x="189579" y="50092"/>
                      <a:pt x="189869" y="48259"/>
                    </a:cubicBezTo>
                    <a:cubicBezTo>
                      <a:pt x="189965" y="47294"/>
                      <a:pt x="190447" y="46523"/>
                      <a:pt x="191219" y="45944"/>
                    </a:cubicBezTo>
                    <a:lnTo>
                      <a:pt x="202121" y="37743"/>
                    </a:lnTo>
                    <a:cubicBezTo>
                      <a:pt x="203665" y="36585"/>
                      <a:pt x="203954" y="34366"/>
                      <a:pt x="202797" y="32919"/>
                    </a:cubicBezTo>
                    <a:lnTo>
                      <a:pt x="190351" y="16229"/>
                    </a:lnTo>
                    <a:cubicBezTo>
                      <a:pt x="189669" y="15320"/>
                      <a:pt x="188620" y="14846"/>
                      <a:pt x="187557" y="14846"/>
                    </a:cubicBezTo>
                    <a:cubicBezTo>
                      <a:pt x="186814" y="14846"/>
                      <a:pt x="186065" y="15077"/>
                      <a:pt x="185431" y="15553"/>
                    </a:cubicBezTo>
                    <a:lnTo>
                      <a:pt x="174529" y="23657"/>
                    </a:lnTo>
                    <a:cubicBezTo>
                      <a:pt x="173892" y="24175"/>
                      <a:pt x="173157" y="24413"/>
                      <a:pt x="172432" y="24413"/>
                    </a:cubicBezTo>
                    <a:cubicBezTo>
                      <a:pt x="171398" y="24413"/>
                      <a:pt x="170385" y="23929"/>
                      <a:pt x="169705" y="23079"/>
                    </a:cubicBezTo>
                    <a:cubicBezTo>
                      <a:pt x="169126" y="22307"/>
                      <a:pt x="168836" y="21342"/>
                      <a:pt x="169029" y="20474"/>
                    </a:cubicBezTo>
                    <a:lnTo>
                      <a:pt x="170959" y="6967"/>
                    </a:lnTo>
                    <a:cubicBezTo>
                      <a:pt x="171152" y="5037"/>
                      <a:pt x="169898" y="3301"/>
                      <a:pt x="167968" y="3011"/>
                    </a:cubicBezTo>
                    <a:lnTo>
                      <a:pt x="147322" y="20"/>
                    </a:lnTo>
                    <a:cubicBezTo>
                      <a:pt x="147197" y="7"/>
                      <a:pt x="147073" y="1"/>
                      <a:pt x="1469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2223;p40"/>
              <p:cNvSpPr/>
              <p:nvPr/>
            </p:nvSpPr>
            <p:spPr>
              <a:xfrm>
                <a:off x="4616640" y="1189440"/>
                <a:ext cx="156600" cy="15660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56600"/>
                  <a:gd name="textAreaBottom" fmla="*/ 156960 h 156600"/>
                </a:gdLst>
                <a:ahLst/>
                <a:cxnLst/>
                <a:rect l="textAreaLeft" t="textAreaTop" r="textAreaRight" b="textAreaBottom"/>
                <a:pathLst>
                  <a:path w="55572" h="55572">
                    <a:moveTo>
                      <a:pt x="27786" y="6947"/>
                    </a:moveTo>
                    <a:cubicBezTo>
                      <a:pt x="39267" y="6947"/>
                      <a:pt x="48625" y="16305"/>
                      <a:pt x="48625" y="27786"/>
                    </a:cubicBezTo>
                    <a:cubicBezTo>
                      <a:pt x="48625" y="39363"/>
                      <a:pt x="39267" y="48625"/>
                      <a:pt x="27786" y="48625"/>
                    </a:cubicBezTo>
                    <a:cubicBezTo>
                      <a:pt x="16305" y="48625"/>
                      <a:pt x="6947" y="39363"/>
                      <a:pt x="6947" y="27786"/>
                    </a:cubicBezTo>
                    <a:cubicBezTo>
                      <a:pt x="6947" y="16305"/>
                      <a:pt x="16305" y="6947"/>
                      <a:pt x="27786" y="6947"/>
                    </a:cubicBezTo>
                    <a:close/>
                    <a:moveTo>
                      <a:pt x="27786" y="0"/>
                    </a:moveTo>
                    <a:cubicBezTo>
                      <a:pt x="12446" y="0"/>
                      <a:pt x="0" y="12446"/>
                      <a:pt x="0" y="27786"/>
                    </a:cubicBezTo>
                    <a:cubicBezTo>
                      <a:pt x="0" y="43126"/>
                      <a:pt x="12446" y="55572"/>
                      <a:pt x="27786" y="55572"/>
                    </a:cubicBezTo>
                    <a:cubicBezTo>
                      <a:pt x="43126" y="55572"/>
                      <a:pt x="55571" y="43126"/>
                      <a:pt x="55571" y="27786"/>
                    </a:cubicBezTo>
                    <a:cubicBezTo>
                      <a:pt x="55571" y="12446"/>
                      <a:pt x="43126" y="97"/>
                      <a:pt x="277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8480" bIns="78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2224;p40"/>
              <p:cNvSpPr/>
              <p:nvPr/>
            </p:nvSpPr>
            <p:spPr>
              <a:xfrm>
                <a:off x="4563360" y="1504800"/>
                <a:ext cx="19080" cy="2916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29160"/>
                  <a:gd name="textAreaBottom" fmla="*/ 29520 h 29160"/>
                </a:gdLst>
                <a:ahLst/>
                <a:cxnLst/>
                <a:rect l="textAreaLeft" t="textAreaTop" r="textAreaRight" b="textAreaBottom"/>
                <a:pathLst>
                  <a:path w="6947" h="10420">
                    <a:moveTo>
                      <a:pt x="0" y="0"/>
                    </a:moveTo>
                    <a:lnTo>
                      <a:pt x="0" y="10420"/>
                    </a:lnTo>
                    <a:lnTo>
                      <a:pt x="6947" y="10420"/>
                    </a:lnTo>
                    <a:lnTo>
                      <a:pt x="694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2" name="Google Shape;2225;p40"/>
              <p:cNvSpPr/>
              <p:nvPr/>
            </p:nvSpPr>
            <p:spPr>
              <a:xfrm>
                <a:off x="4416480" y="1182960"/>
                <a:ext cx="165960" cy="302040"/>
              </a:xfrm>
              <a:custGeom>
                <a:avLst/>
                <a:gdLst>
                  <a:gd name="textAreaLeft" fmla="*/ 0 w 165960"/>
                  <a:gd name="textAreaRight" fmla="*/ 166320 w 165960"/>
                  <a:gd name="textAreaTop" fmla="*/ 0 h 302040"/>
                  <a:gd name="textAreaBottom" fmla="*/ 302400 h 302040"/>
                </a:gdLst>
                <a:ahLst/>
                <a:cxnLst/>
                <a:rect l="textAreaLeft" t="textAreaTop" r="textAreaRight" b="textAreaBottom"/>
                <a:pathLst>
                  <a:path w="58949" h="107188">
                    <a:moveTo>
                      <a:pt x="29619" y="1"/>
                    </a:moveTo>
                    <a:cubicBezTo>
                      <a:pt x="6851" y="14376"/>
                      <a:pt x="1" y="44381"/>
                      <a:pt x="14376" y="67053"/>
                    </a:cubicBezTo>
                    <a:cubicBezTo>
                      <a:pt x="19875" y="75929"/>
                      <a:pt x="28076" y="82683"/>
                      <a:pt x="37820" y="86445"/>
                    </a:cubicBezTo>
                    <a:cubicBezTo>
                      <a:pt x="46407" y="89725"/>
                      <a:pt x="52002" y="98022"/>
                      <a:pt x="52002" y="107188"/>
                    </a:cubicBezTo>
                    <a:lnTo>
                      <a:pt x="58949" y="107188"/>
                    </a:lnTo>
                    <a:cubicBezTo>
                      <a:pt x="58949" y="95128"/>
                      <a:pt x="51616" y="84323"/>
                      <a:pt x="40328" y="79981"/>
                    </a:cubicBezTo>
                    <a:cubicBezTo>
                      <a:pt x="18910" y="71588"/>
                      <a:pt x="8298" y="47468"/>
                      <a:pt x="16691" y="26050"/>
                    </a:cubicBezTo>
                    <a:cubicBezTo>
                      <a:pt x="19875" y="17753"/>
                      <a:pt x="25760" y="10710"/>
                      <a:pt x="33286" y="5886"/>
                    </a:cubicBezTo>
                    <a:lnTo>
                      <a:pt x="2961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3" name="Google Shape;2226;p40"/>
              <p:cNvSpPr/>
              <p:nvPr/>
            </p:nvSpPr>
            <p:spPr>
              <a:xfrm>
                <a:off x="4759200" y="1436400"/>
                <a:ext cx="68400" cy="1908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24313" h="6948">
                    <a:moveTo>
                      <a:pt x="0" y="1"/>
                    </a:moveTo>
                    <a:lnTo>
                      <a:pt x="0" y="6947"/>
                    </a:lnTo>
                    <a:lnTo>
                      <a:pt x="24313" y="6947"/>
                    </a:lnTo>
                    <a:lnTo>
                      <a:pt x="24313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2227;p40"/>
              <p:cNvSpPr/>
              <p:nvPr/>
            </p:nvSpPr>
            <p:spPr>
              <a:xfrm>
                <a:off x="4743360" y="1487520"/>
                <a:ext cx="70920" cy="6372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63720"/>
                  <a:gd name="textAreaBottom" fmla="*/ 64080 h 63720"/>
                </a:gdLst>
                <a:ahLst/>
                <a:cxnLst/>
                <a:rect l="textAreaLeft" t="textAreaTop" r="textAreaRight" b="textAreaBottom"/>
                <a:pathLst>
                  <a:path w="25278" h="22674">
                    <a:moveTo>
                      <a:pt x="4438" y="1"/>
                    </a:moveTo>
                    <a:lnTo>
                      <a:pt x="0" y="5307"/>
                    </a:lnTo>
                    <a:lnTo>
                      <a:pt x="20839" y="22673"/>
                    </a:lnTo>
                    <a:lnTo>
                      <a:pt x="25277" y="17367"/>
                    </a:lnTo>
                    <a:lnTo>
                      <a:pt x="443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040" bIns="32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2228;p40"/>
              <p:cNvSpPr/>
              <p:nvPr/>
            </p:nvSpPr>
            <p:spPr>
              <a:xfrm>
                <a:off x="4700520" y="1514880"/>
                <a:ext cx="19080" cy="6840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6947" h="24313">
                    <a:moveTo>
                      <a:pt x="0" y="1"/>
                    </a:moveTo>
                    <a:lnTo>
                      <a:pt x="0" y="24313"/>
                    </a:lnTo>
                    <a:lnTo>
                      <a:pt x="6947" y="24313"/>
                    </a:lnTo>
                    <a:lnTo>
                      <a:pt x="694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2229;p40"/>
              <p:cNvSpPr/>
              <p:nvPr/>
            </p:nvSpPr>
            <p:spPr>
              <a:xfrm>
                <a:off x="4286520" y="1221120"/>
                <a:ext cx="82800" cy="38160"/>
              </a:xfrm>
              <a:custGeom>
                <a:avLst/>
                <a:gdLst>
                  <a:gd name="textAreaLeft" fmla="*/ 0 w 82800"/>
                  <a:gd name="textAreaRight" fmla="*/ 83160 w 82800"/>
                  <a:gd name="textAreaTop" fmla="*/ 0 h 38160"/>
                  <a:gd name="textAreaBottom" fmla="*/ 38520 h 38160"/>
                </a:gdLst>
                <a:ahLst/>
                <a:cxnLst/>
                <a:rect l="textAreaLeft" t="textAreaTop" r="textAreaRight" b="textAreaBottom"/>
                <a:pathLst>
                  <a:path w="29427" h="13701">
                    <a:moveTo>
                      <a:pt x="27786" y="1"/>
                    </a:moveTo>
                    <a:lnTo>
                      <a:pt x="1" y="6947"/>
                    </a:lnTo>
                    <a:lnTo>
                      <a:pt x="1641" y="13701"/>
                    </a:lnTo>
                    <a:lnTo>
                      <a:pt x="29426" y="6754"/>
                    </a:lnTo>
                    <a:lnTo>
                      <a:pt x="277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080" bIns="19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2230;p40"/>
              <p:cNvSpPr/>
              <p:nvPr/>
            </p:nvSpPr>
            <p:spPr>
              <a:xfrm>
                <a:off x="4303080" y="1124640"/>
                <a:ext cx="79560" cy="6444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64440"/>
                  <a:gd name="textAreaBottom" fmla="*/ 64800 h 64440"/>
                </a:gdLst>
                <a:ahLst/>
                <a:cxnLst/>
                <a:rect l="textAreaLeft" t="textAreaTop" r="textAreaRight" b="textAreaBottom"/>
                <a:pathLst>
                  <a:path w="28269" h="22963">
                    <a:moveTo>
                      <a:pt x="3956" y="1"/>
                    </a:moveTo>
                    <a:lnTo>
                      <a:pt x="0" y="5596"/>
                    </a:lnTo>
                    <a:lnTo>
                      <a:pt x="24313" y="22962"/>
                    </a:lnTo>
                    <a:lnTo>
                      <a:pt x="28268" y="17367"/>
                    </a:lnTo>
                    <a:lnTo>
                      <a:pt x="395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2231;p40"/>
              <p:cNvSpPr/>
              <p:nvPr/>
            </p:nvSpPr>
            <p:spPr>
              <a:xfrm>
                <a:off x="4386960" y="1071000"/>
                <a:ext cx="38520" cy="82800"/>
              </a:xfrm>
              <a:custGeom>
                <a:avLst/>
                <a:gdLst>
                  <a:gd name="textAreaLeft" fmla="*/ 0 w 38520"/>
                  <a:gd name="textAreaRight" fmla="*/ 38880 w 38520"/>
                  <a:gd name="textAreaTop" fmla="*/ 0 h 82800"/>
                  <a:gd name="textAreaBottom" fmla="*/ 83160 h 82800"/>
                </a:gdLst>
                <a:ahLst/>
                <a:cxnLst/>
                <a:rect l="textAreaLeft" t="textAreaTop" r="textAreaRight" b="textAreaBottom"/>
                <a:pathLst>
                  <a:path w="13797" h="29523">
                    <a:moveTo>
                      <a:pt x="6754" y="0"/>
                    </a:moveTo>
                    <a:lnTo>
                      <a:pt x="1" y="1737"/>
                    </a:lnTo>
                    <a:lnTo>
                      <a:pt x="7140" y="29522"/>
                    </a:lnTo>
                    <a:lnTo>
                      <a:pt x="13797" y="27786"/>
                    </a:lnTo>
                    <a:lnTo>
                      <a:pt x="6754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400" bIns="41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2096298" y="278324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Tujuan</a:t>
            </a:r>
            <a:r>
              <a:rPr lang="en-US" sz="28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 </a:t>
            </a:r>
            <a:r>
              <a:rPr lang="en-US" sz="28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Pembelajaran</a:t>
            </a:r>
            <a:r>
              <a:rPr lang="en-US" sz="28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 (Agenda)</a:t>
            </a:r>
            <a:endParaRPr lang="fr-FR" sz="28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A435EAC-BFE4-4092-BA2D-DE201166C2F9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795680" y="1833086"/>
            <a:ext cx="55526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Masalah</a:t>
            </a:r>
            <a:r>
              <a:rPr lang="en-ID" sz="2000" dirty="0"/>
              <a:t>: </a:t>
            </a:r>
            <a:r>
              <a:rPr lang="en-ID" sz="2000" dirty="0" err="1"/>
              <a:t>Keterbatasan</a:t>
            </a:r>
            <a:r>
              <a:rPr lang="en-ID" sz="2000" dirty="0"/>
              <a:t> MLP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Arsitektur</a:t>
            </a:r>
            <a:r>
              <a:rPr lang="en-ID" sz="2000" dirty="0"/>
              <a:t> CNN &amp; </a:t>
            </a:r>
            <a:r>
              <a:rPr lang="en-ID" sz="2000" dirty="0" err="1"/>
              <a:t>Ekstraksi</a:t>
            </a:r>
            <a:r>
              <a:rPr lang="en-ID" sz="2000" dirty="0"/>
              <a:t> Fitur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Tahap</a:t>
            </a:r>
            <a:r>
              <a:rPr lang="en-ID" sz="2000" dirty="0"/>
              <a:t> </a:t>
            </a:r>
            <a:r>
              <a:rPr lang="en-ID" sz="2000" dirty="0" err="1"/>
              <a:t>Klasifikasi</a:t>
            </a:r>
            <a:endParaRPr lang="en-ID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/>
              <a:t>Hasil </a:t>
            </a:r>
            <a:r>
              <a:rPr lang="en-ID" sz="2000" dirty="0" err="1"/>
              <a:t>Eksperimen</a:t>
            </a:r>
            <a:r>
              <a:rPr lang="en-ID" sz="2000" dirty="0"/>
              <a:t> &amp; </a:t>
            </a:r>
            <a:r>
              <a:rPr lang="en-ID" sz="2000" dirty="0" err="1"/>
              <a:t>Optimasi</a:t>
            </a:r>
            <a:endParaRPr lang="en-ID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000" dirty="0" err="1"/>
              <a:t>Implementasi</a:t>
            </a:r>
            <a:r>
              <a:rPr lang="en-ID" sz="2000" dirty="0"/>
              <a:t> di Dunia </a:t>
            </a:r>
            <a:r>
              <a:rPr lang="en-ID" sz="2000" dirty="0" err="1"/>
              <a:t>Nyata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rlow Semi Condensed" panose="00000506000000000000" pitchFamily="2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Rectangle 430"/>
          <p:cNvSpPr/>
          <p:nvPr/>
        </p:nvSpPr>
        <p:spPr>
          <a:xfrm>
            <a:off x="1629420" y="633600"/>
            <a:ext cx="5885160" cy="3693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 err="1">
                <a:solidFill>
                  <a:schemeClr val="dk2"/>
                </a:solidFill>
                <a:effectLst/>
                <a:uFillTx/>
                <a:latin typeface="Calibri"/>
              </a:rPr>
              <a:t>Masalah</a:t>
            </a:r>
            <a:r>
              <a:rPr lang="en-US" b="1" dirty="0">
                <a:solidFill>
                  <a:schemeClr val="dk2"/>
                </a:solidFill>
                <a:latin typeface="Calibri"/>
              </a:rPr>
              <a:t>: </a:t>
            </a:r>
            <a:r>
              <a:rPr lang="en-US" b="1" u="none" strike="noStrike" dirty="0" err="1">
                <a:solidFill>
                  <a:schemeClr val="dk2"/>
                </a:solidFill>
                <a:effectLst/>
                <a:uFillTx/>
                <a:latin typeface="Calibri"/>
              </a:rPr>
              <a:t>Mengapa</a:t>
            </a:r>
            <a:r>
              <a:rPr lang="en-US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 </a:t>
            </a:r>
            <a:r>
              <a:rPr lang="en-US" b="1" u="none" strike="noStrike" dirty="0" err="1">
                <a:solidFill>
                  <a:schemeClr val="dk2"/>
                </a:solidFill>
                <a:effectLst/>
                <a:uFillTx/>
                <a:latin typeface="Calibri"/>
              </a:rPr>
              <a:t>Bukan</a:t>
            </a:r>
            <a:r>
              <a:rPr lang="en-US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 Neural Network </a:t>
            </a:r>
            <a:r>
              <a:rPr lang="en-US" b="1" u="none" strike="noStrike" dirty="0" err="1">
                <a:solidFill>
                  <a:schemeClr val="dk2"/>
                </a:solidFill>
                <a:effectLst/>
                <a:uFillTx/>
                <a:latin typeface="Calibri"/>
              </a:rPr>
              <a:t>Biasa</a:t>
            </a:r>
            <a:r>
              <a:rPr lang="en-US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 (MLP)?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32" name="Rectangle 431"/>
          <p:cNvSpPr/>
          <p:nvPr/>
        </p:nvSpPr>
        <p:spPr>
          <a:xfrm>
            <a:off x="1705046" y="1365722"/>
            <a:ext cx="5733908" cy="32862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r>
              <a:rPr lang="en-ID" sz="2600" b="1" dirty="0" err="1">
                <a:latin typeface="Barlow Semi Condensed" panose="00000506000000000000" pitchFamily="2" charset="0"/>
              </a:rPr>
              <a:t>Permasalahan</a:t>
            </a:r>
            <a:r>
              <a:rPr lang="en-ID" sz="2600" b="1" dirty="0">
                <a:latin typeface="Barlow Semi Condensed" panose="00000506000000000000" pitchFamily="2" charset="0"/>
              </a:rPr>
              <a:t> MLP :</a:t>
            </a:r>
          </a:p>
          <a:p>
            <a:pPr>
              <a:lnSpc>
                <a:spcPct val="120000"/>
              </a:lnSpc>
            </a:pPr>
            <a:r>
              <a:rPr lang="en-ID" sz="2600" dirty="0">
                <a:latin typeface="Barlow Semi Condensed" panose="00000506000000000000" pitchFamily="2" charset="0"/>
              </a:rPr>
              <a:t>Gambar </a:t>
            </a:r>
            <a:r>
              <a:rPr lang="en-ID" sz="2600" dirty="0" err="1">
                <a:latin typeface="Barlow Semi Condensed" panose="00000506000000000000" pitchFamily="2" charset="0"/>
              </a:rPr>
              <a:t>memiliki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pola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spasial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500" dirty="0">
                <a:latin typeface="Barlow Semi Condensed" panose="00000506000000000000" pitchFamily="2" charset="0"/>
              </a:rPr>
              <a:t>(</a:t>
            </a:r>
            <a:r>
              <a:rPr lang="en-ID" sz="2500" dirty="0" err="1">
                <a:latin typeface="Barlow Semi Condensed" panose="00000506000000000000" pitchFamily="2" charset="0"/>
              </a:rPr>
              <a:t>hubungan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antar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piksel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tetangga</a:t>
            </a:r>
            <a:r>
              <a:rPr lang="en-ID" sz="2500" dirty="0">
                <a:latin typeface="Barlow Semi Condensed" panose="00000506000000000000" pitchFamily="2" charset="0"/>
              </a:rPr>
              <a:t>).</a:t>
            </a:r>
          </a:p>
          <a:p>
            <a:r>
              <a:rPr lang="nn-NO" sz="2500" dirty="0">
                <a:latin typeface="Barlow Semi Condensed" panose="00000506000000000000" pitchFamily="2" charset="0"/>
              </a:rPr>
              <a:t>MLP meratakan gambar (Flatten) -&gt; Kehilangan konteks posisi objek.</a:t>
            </a:r>
          </a:p>
          <a:p>
            <a:r>
              <a:rPr lang="en-ID" sz="2500" dirty="0" err="1">
                <a:latin typeface="Barlow Semi Condensed" panose="00000506000000000000" pitchFamily="2" charset="0"/>
              </a:rPr>
              <a:t>Sensitif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terhadap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pergeseran</a:t>
            </a:r>
            <a:r>
              <a:rPr lang="en-ID" sz="2500" dirty="0">
                <a:latin typeface="Barlow Semi Condensed" panose="00000506000000000000" pitchFamily="2" charset="0"/>
              </a:rPr>
              <a:t>: </a:t>
            </a:r>
            <a:r>
              <a:rPr lang="en-ID" sz="2500" dirty="0" err="1">
                <a:latin typeface="Barlow Semi Condensed" panose="00000506000000000000" pitchFamily="2" charset="0"/>
              </a:rPr>
              <a:t>Objek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geser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sedikit</a:t>
            </a:r>
            <a:r>
              <a:rPr lang="en-ID" sz="2500" dirty="0">
                <a:latin typeface="Barlow Semi Condensed" panose="00000506000000000000" pitchFamily="2" charset="0"/>
              </a:rPr>
              <a:t>, MLP </a:t>
            </a:r>
            <a:r>
              <a:rPr lang="en-ID" sz="2500" dirty="0" err="1">
                <a:latin typeface="Barlow Semi Condensed" panose="00000506000000000000" pitchFamily="2" charset="0"/>
              </a:rPr>
              <a:t>bisa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gagal</a:t>
            </a:r>
            <a:r>
              <a:rPr lang="en-ID" sz="2500" dirty="0">
                <a:latin typeface="Barlow Semi Condensed" panose="00000506000000000000" pitchFamily="2" charset="0"/>
              </a:rPr>
              <a:t>.</a:t>
            </a:r>
          </a:p>
          <a:p>
            <a:r>
              <a:rPr lang="en-ID" sz="2500" dirty="0">
                <a:latin typeface="Barlow Semi Condensed" panose="00000506000000000000" pitchFamily="2" charset="0"/>
              </a:rPr>
              <a:t>Parameter Explosion: Berat </a:t>
            </a:r>
            <a:r>
              <a:rPr lang="en-ID" sz="2500" dirty="0" err="1">
                <a:latin typeface="Barlow Semi Condensed" panose="00000506000000000000" pitchFamily="2" charset="0"/>
              </a:rPr>
              <a:t>secara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komputasi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untuk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resolusi</a:t>
            </a:r>
            <a:r>
              <a:rPr lang="en-ID" sz="2500" dirty="0">
                <a:latin typeface="Barlow Semi Condensed" panose="00000506000000000000" pitchFamily="2" charset="0"/>
              </a:rPr>
              <a:t> </a:t>
            </a:r>
            <a:r>
              <a:rPr lang="en-ID" sz="2500" dirty="0" err="1">
                <a:latin typeface="Barlow Semi Condensed" panose="00000506000000000000" pitchFamily="2" charset="0"/>
              </a:rPr>
              <a:t>tinggi</a:t>
            </a:r>
            <a:r>
              <a:rPr lang="en-ID" sz="2500" dirty="0">
                <a:latin typeface="Barlow Semi Condensed" panose="00000506000000000000" pitchFamily="2" charset="0"/>
              </a:rPr>
              <a:t>.</a:t>
            </a:r>
          </a:p>
          <a:p>
            <a:endParaRPr lang="en-ID" sz="2600" dirty="0">
              <a:latin typeface="Barlow Semi Condensed" panose="00000506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ID" sz="2600" b="1" dirty="0" err="1">
                <a:latin typeface="Barlow Semi Condensed" panose="00000506000000000000" pitchFamily="2" charset="0"/>
              </a:rPr>
              <a:t>Dampak</a:t>
            </a:r>
            <a:endParaRPr lang="en-ID" sz="2600" b="1" dirty="0">
              <a:latin typeface="Barlow Semi Condensed" panose="00000506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ID" sz="2600" dirty="0" err="1">
                <a:latin typeface="Barlow Semi Condensed" panose="00000506000000000000" pitchFamily="2" charset="0"/>
              </a:rPr>
              <a:t>Komputasi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lebih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berat</a:t>
            </a:r>
            <a:r>
              <a:rPr lang="en-ID" sz="2600" dirty="0">
                <a:latin typeface="Barlow Semi Condensed" panose="00000506000000000000" pitchFamily="2" charset="0"/>
              </a:rPr>
              <a:t>.</a:t>
            </a:r>
          </a:p>
          <a:p>
            <a:r>
              <a:rPr lang="en-ID" sz="2600" dirty="0">
                <a:latin typeface="Barlow Semi Condensed" panose="00000506000000000000" pitchFamily="2" charset="0"/>
              </a:rPr>
              <a:t>Kurang </a:t>
            </a:r>
            <a:r>
              <a:rPr lang="en-ID" sz="2600" dirty="0" err="1">
                <a:latin typeface="Barlow Semi Condensed" panose="00000506000000000000" pitchFamily="2" charset="0"/>
              </a:rPr>
              <a:t>efektif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untuk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pengolahan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citra</a:t>
            </a:r>
            <a:r>
              <a:rPr lang="en-ID" sz="2600" dirty="0">
                <a:latin typeface="Barlow Semi Condensed" panose="00000506000000000000" pitchFamily="2" charset="0"/>
              </a:rPr>
              <a:t>.</a:t>
            </a:r>
          </a:p>
          <a:p>
            <a:endParaRPr lang="en-ID" sz="2600" b="1" dirty="0">
              <a:latin typeface="Barlow Semi Condensed" panose="00000506000000000000" pitchFamily="2" charset="0"/>
            </a:endParaRPr>
          </a:p>
          <a:p>
            <a:r>
              <a:rPr lang="en-ID" sz="2600" b="1" dirty="0">
                <a:latin typeface="Barlow Semi Condensed" panose="00000506000000000000" pitchFamily="2" charset="0"/>
              </a:rPr>
              <a:t>Kata </a:t>
            </a:r>
            <a:r>
              <a:rPr lang="en-ID" sz="2600" b="1" dirty="0" err="1">
                <a:latin typeface="Barlow Semi Condensed" panose="00000506000000000000" pitchFamily="2" charset="0"/>
              </a:rPr>
              <a:t>Kunci</a:t>
            </a:r>
            <a:r>
              <a:rPr lang="en-ID" sz="2600" b="1" dirty="0">
                <a:latin typeface="Barlow Semi Condensed" panose="00000506000000000000" pitchFamily="2" charset="0"/>
              </a:rPr>
              <a:t> Spatial Invariance Visual</a:t>
            </a:r>
          </a:p>
          <a:p>
            <a:pPr>
              <a:lnSpc>
                <a:spcPct val="120000"/>
              </a:lnSpc>
            </a:pPr>
            <a:r>
              <a:rPr lang="en-ID" sz="2600" dirty="0" err="1">
                <a:latin typeface="Barlow Semi Condensed" panose="00000506000000000000" pitchFamily="2" charset="0"/>
              </a:rPr>
              <a:t>Perbandingan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gambar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asli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dengan</a:t>
            </a:r>
            <a:r>
              <a:rPr lang="en-ID" sz="2600" dirty="0">
                <a:latin typeface="Barlow Semi Condensed" panose="00000506000000000000" pitchFamily="2" charset="0"/>
              </a:rPr>
              <a:t> </a:t>
            </a:r>
            <a:r>
              <a:rPr lang="en-ID" sz="2600" dirty="0" err="1">
                <a:latin typeface="Barlow Semi Condensed" panose="00000506000000000000" pitchFamily="2" charset="0"/>
              </a:rPr>
              <a:t>hasil</a:t>
            </a:r>
            <a:r>
              <a:rPr lang="en-ID" sz="2600" dirty="0">
                <a:latin typeface="Barlow Semi Condensed" panose="00000506000000000000" pitchFamily="2" charset="0"/>
              </a:rPr>
              <a:t> flatten pada MLP.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Barlow Semi Condensed" panose="00000506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433"/>
          <p:cNvSpPr/>
          <p:nvPr/>
        </p:nvSpPr>
        <p:spPr>
          <a:xfrm>
            <a:off x="58260" y="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nn-NO" sz="20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Arsitektur CNN: Tahap Ekstraksi Fitur</a:t>
            </a:r>
            <a:endParaRPr lang="en-US" sz="20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3154D5-EE62-45B8-A436-D6F5FAD0B7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" t="1033" r="62346" b="19307"/>
          <a:stretch>
            <a:fillRect/>
          </a:stretch>
        </p:blipFill>
        <p:spPr>
          <a:xfrm>
            <a:off x="759628" y="487698"/>
            <a:ext cx="2616089" cy="3774919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523F5B5-23CB-CA77-75BC-A98522CACBBA}"/>
              </a:ext>
            </a:extLst>
          </p:cNvPr>
          <p:cNvSpPr txBox="1">
            <a:spLocks/>
          </p:cNvSpPr>
          <p:nvPr/>
        </p:nvSpPr>
        <p:spPr>
          <a:xfrm>
            <a:off x="3485720" y="1072530"/>
            <a:ext cx="5179600" cy="2928830"/>
          </a:xfrm>
          <a:prstGeom prst="rect">
            <a:avLst/>
          </a:prstGeom>
        </p:spPr>
        <p:txBody>
          <a:bodyPr wrap="square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dirty="0"/>
          </a:p>
          <a:p>
            <a:r>
              <a:rPr lang="en-ID" dirty="0" err="1"/>
              <a:t>Fungsi</a:t>
            </a:r>
            <a:r>
              <a:rPr lang="en-ID" dirty="0"/>
              <a:t>: </a:t>
            </a:r>
            <a:r>
              <a:rPr lang="en-ID" dirty="0" err="1"/>
              <a:t>Bertindak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'</a:t>
            </a:r>
            <a:r>
              <a:rPr lang="en-ID" dirty="0" err="1"/>
              <a:t>kaca</a:t>
            </a:r>
            <a:r>
              <a:rPr lang="en-ID" dirty="0"/>
              <a:t> </a:t>
            </a:r>
            <a:r>
              <a:rPr lang="en-ID" dirty="0" err="1"/>
              <a:t>pembesar</a:t>
            </a:r>
            <a:r>
              <a:rPr lang="en-ID" dirty="0"/>
              <a:t>' </a:t>
            </a:r>
            <a:r>
              <a:rPr lang="en-ID" dirty="0" err="1"/>
              <a:t>otomatis</a:t>
            </a:r>
            <a:r>
              <a:rPr lang="en-ID" dirty="0"/>
              <a:t>.</a:t>
            </a:r>
          </a:p>
          <a:p>
            <a:r>
              <a:rPr lang="en-ID" dirty="0"/>
              <a:t>Kernel/Filter: </a:t>
            </a:r>
            <a:r>
              <a:rPr lang="en-ID" dirty="0" err="1"/>
              <a:t>Bergeser</a:t>
            </a:r>
            <a:r>
              <a:rPr lang="en-ID" dirty="0"/>
              <a:t> </a:t>
            </a:r>
            <a:r>
              <a:rPr lang="en-ID" dirty="0" err="1"/>
              <a:t>menyusuri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mencari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.</a:t>
            </a:r>
          </a:p>
          <a:p>
            <a:r>
              <a:rPr lang="en-ID" dirty="0"/>
              <a:t>Output: </a:t>
            </a:r>
            <a:r>
              <a:rPr lang="en-ID" dirty="0" err="1"/>
              <a:t>Mendeteksi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(</a:t>
            </a:r>
            <a:r>
              <a:rPr lang="en-ID" dirty="0" err="1"/>
              <a:t>tepi</a:t>
            </a:r>
            <a:r>
              <a:rPr lang="en-ID" dirty="0"/>
              <a:t>, garis) </a:t>
            </a:r>
            <a:r>
              <a:rPr lang="en-ID" dirty="0" err="1"/>
              <a:t>hingga</a:t>
            </a:r>
            <a:r>
              <a:rPr lang="en-ID" dirty="0"/>
              <a:t> </a:t>
            </a:r>
            <a:r>
              <a:rPr lang="en-ID" dirty="0" err="1"/>
              <a:t>kompleks</a:t>
            </a:r>
            <a:r>
              <a:rPr lang="en-ID" dirty="0"/>
              <a:t> (</a:t>
            </a:r>
            <a:r>
              <a:rPr lang="en-ID" dirty="0" err="1"/>
              <a:t>bentuk</a:t>
            </a:r>
            <a:r>
              <a:rPr lang="en-ID" dirty="0"/>
              <a:t>).</a:t>
            </a:r>
          </a:p>
          <a:p>
            <a:r>
              <a:rPr lang="en-ID" dirty="0"/>
              <a:t>Parameter Sharing: </a:t>
            </a:r>
            <a:r>
              <a:rPr lang="en-ID" dirty="0" err="1"/>
              <a:t>Menggunakan</a:t>
            </a:r>
            <a:r>
              <a:rPr lang="en-ID" dirty="0"/>
              <a:t> filter yang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gambar</a:t>
            </a:r>
            <a:r>
              <a:rPr lang="en-ID" dirty="0"/>
              <a:t> (</a:t>
            </a:r>
            <a:r>
              <a:rPr lang="en-ID" dirty="0" err="1"/>
              <a:t>efisien</a:t>
            </a:r>
            <a:r>
              <a:rPr lang="en-ID"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2A64-D7E7-501F-3B07-9BD4CD37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433">
            <a:extLst>
              <a:ext uri="{FF2B5EF4-FFF2-40B4-BE49-F238E27FC236}">
                <a16:creationId xmlns:a16="http://schemas.microsoft.com/office/drawing/2014/main" id="{3A19AAE1-96B0-1FAE-EF31-287012AB4696}"/>
              </a:ext>
            </a:extLst>
          </p:cNvPr>
          <p:cNvSpPr/>
          <p:nvPr/>
        </p:nvSpPr>
        <p:spPr>
          <a:xfrm>
            <a:off x="58260" y="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nn-NO" sz="20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Arsitektur CNN: Tahap Ekstraksi Fitur </a:t>
            </a:r>
            <a:r>
              <a:rPr lang="en-ID" sz="2000" b="1" dirty="0">
                <a:solidFill>
                  <a:schemeClr val="dk2"/>
                </a:solidFill>
                <a:latin typeface="Fjalla One"/>
              </a:rPr>
              <a:t>: </a:t>
            </a:r>
            <a:r>
              <a:rPr lang="en-ID" sz="2000" b="1" dirty="0" err="1">
                <a:solidFill>
                  <a:schemeClr val="dk2"/>
                </a:solidFill>
                <a:latin typeface="Fjalla One"/>
              </a:rPr>
              <a:t>ReLU</a:t>
            </a:r>
            <a:r>
              <a:rPr lang="en-ID" sz="2000" b="1" dirty="0">
                <a:solidFill>
                  <a:schemeClr val="dk2"/>
                </a:solidFill>
                <a:latin typeface="Fjalla One"/>
              </a:rPr>
              <a:t> Activation</a:t>
            </a:r>
            <a:endParaRPr lang="en-US" sz="2000" b="1" dirty="0">
              <a:solidFill>
                <a:schemeClr val="dk2"/>
              </a:solidFill>
              <a:latin typeface="Fjall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8B0F33-CC6D-D4DB-4112-6A375B15C9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41" t="1034" r="35361" b="16551"/>
          <a:stretch>
            <a:fillRect/>
          </a:stretch>
        </p:blipFill>
        <p:spPr>
          <a:xfrm>
            <a:off x="866274" y="460197"/>
            <a:ext cx="2110682" cy="436000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8CF804-1753-3EB1-5268-587C38FA732E}"/>
              </a:ext>
            </a:extLst>
          </p:cNvPr>
          <p:cNvSpPr txBox="1">
            <a:spLocks/>
          </p:cNvSpPr>
          <p:nvPr/>
        </p:nvSpPr>
        <p:spPr>
          <a:xfrm>
            <a:off x="3179774" y="926434"/>
            <a:ext cx="5097951" cy="3047426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sz="2000" dirty="0"/>
          </a:p>
          <a:p>
            <a:r>
              <a:rPr lang="en-ID" sz="2000" dirty="0" err="1"/>
              <a:t>Fungsi</a:t>
            </a:r>
            <a:r>
              <a:rPr lang="en-ID" sz="2000" dirty="0"/>
              <a:t>: </a:t>
            </a:r>
            <a:r>
              <a:rPr lang="en-ID" sz="2000" dirty="0" err="1"/>
              <a:t>Memperkenalkan</a:t>
            </a:r>
            <a:r>
              <a:rPr lang="en-ID" sz="2000" dirty="0"/>
              <a:t> </a:t>
            </a:r>
            <a:r>
              <a:rPr lang="en-ID" sz="2000" dirty="0" err="1"/>
              <a:t>sifat</a:t>
            </a:r>
            <a:r>
              <a:rPr lang="en-ID" sz="2000" dirty="0"/>
              <a:t> Non-Linear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model.</a:t>
            </a:r>
          </a:p>
          <a:p>
            <a:r>
              <a:rPr lang="en-ID" sz="2000" dirty="0"/>
              <a:t>Cara </a:t>
            </a:r>
            <a:r>
              <a:rPr lang="en-ID" sz="2000" dirty="0" err="1"/>
              <a:t>Kerja</a:t>
            </a:r>
            <a:r>
              <a:rPr lang="en-ID" sz="2000" dirty="0"/>
              <a:t>: </a:t>
            </a:r>
            <a:r>
              <a:rPr lang="en-ID" sz="2000" dirty="0" err="1"/>
              <a:t>Mengubah</a:t>
            </a:r>
            <a:r>
              <a:rPr lang="en-ID" sz="2000" dirty="0"/>
              <a:t> </a:t>
            </a:r>
            <a:r>
              <a:rPr lang="en-ID" sz="2000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negatif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nol.</a:t>
            </a:r>
          </a:p>
          <a:p>
            <a:r>
              <a:rPr lang="en-ID" sz="2000" dirty="0"/>
              <a:t>Manfaat: </a:t>
            </a:r>
            <a:r>
              <a:rPr lang="en-ID" sz="2000" dirty="0" err="1"/>
              <a:t>Mempercepat</a:t>
            </a:r>
            <a:r>
              <a:rPr lang="en-ID" sz="2000" dirty="0"/>
              <a:t> proses </a:t>
            </a:r>
            <a:r>
              <a:rPr lang="en-ID" sz="2000" dirty="0" err="1"/>
              <a:t>belajar</a:t>
            </a:r>
            <a:r>
              <a:rPr lang="en-ID" sz="2000" dirty="0"/>
              <a:t> (training) dan </a:t>
            </a:r>
            <a:r>
              <a:rPr lang="en-ID" sz="2000" dirty="0" err="1"/>
              <a:t>mencegah</a:t>
            </a:r>
            <a:r>
              <a:rPr lang="en-ID" sz="2000" dirty="0"/>
              <a:t> model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mempelajari</a:t>
            </a:r>
            <a:r>
              <a:rPr lang="en-ID" sz="2000" dirty="0"/>
              <a:t> </a:t>
            </a:r>
            <a:r>
              <a:rPr lang="en-ID" sz="2000" dirty="0" err="1"/>
              <a:t>hubungan</a:t>
            </a:r>
            <a:r>
              <a:rPr lang="en-ID" sz="2000" dirty="0"/>
              <a:t> linear </a:t>
            </a:r>
            <a:r>
              <a:rPr lang="en-ID" sz="2000" dirty="0" err="1"/>
              <a:t>sederhana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189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ADC1-245B-93AF-2AC9-F38582E1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433">
            <a:extLst>
              <a:ext uri="{FF2B5EF4-FFF2-40B4-BE49-F238E27FC236}">
                <a16:creationId xmlns:a16="http://schemas.microsoft.com/office/drawing/2014/main" id="{EBC79E12-B0A1-2A5B-CE4F-6255F2FCF929}"/>
              </a:ext>
            </a:extLst>
          </p:cNvPr>
          <p:cNvSpPr/>
          <p:nvPr/>
        </p:nvSpPr>
        <p:spPr>
          <a:xfrm>
            <a:off x="58260" y="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nn-NO" sz="20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Arsitektur CNN: Tahap Ekstraksi Fitur : </a:t>
            </a:r>
            <a:r>
              <a:rPr lang="en-ID" sz="2000" b="1" dirty="0">
                <a:solidFill>
                  <a:schemeClr val="dk2"/>
                </a:solidFill>
                <a:latin typeface="Fjalla One"/>
              </a:rPr>
              <a:t>Max Pooling</a:t>
            </a:r>
            <a:endParaRPr lang="en-US" sz="2000" b="1" dirty="0">
              <a:solidFill>
                <a:schemeClr val="dk2"/>
              </a:solidFill>
              <a:latin typeface="Fjall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3B7EDB-ED89-0614-9975-E5489CCD2E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29" t="1033" r="695" b="18147"/>
          <a:stretch>
            <a:fillRect/>
          </a:stretch>
        </p:blipFill>
        <p:spPr>
          <a:xfrm>
            <a:off x="873149" y="542699"/>
            <a:ext cx="2443508" cy="382992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515EFE-D6DF-8FF1-EAA0-52263918A027}"/>
              </a:ext>
            </a:extLst>
          </p:cNvPr>
          <p:cNvSpPr txBox="1">
            <a:spLocks/>
          </p:cNvSpPr>
          <p:nvPr/>
        </p:nvSpPr>
        <p:spPr>
          <a:xfrm>
            <a:off x="3316657" y="809280"/>
            <a:ext cx="5573343" cy="2868640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sz="2000"/>
          </a:p>
          <a:p>
            <a:r>
              <a:rPr lang="en-ID" sz="2000"/>
              <a:t>Fungsi: Kompresi data (Meringkas ukuran gambar).</a:t>
            </a:r>
          </a:p>
          <a:p>
            <a:r>
              <a:rPr lang="en-ID" sz="2000"/>
              <a:t>Manfaat: Mengurangi beban komputasi secara signifikan.</a:t>
            </a:r>
          </a:p>
          <a:p>
            <a:r>
              <a:rPr lang="en-ID" sz="2000"/>
              <a:t>Robustness: Membuat model lebih kebal terhadap pergeseran objek (Translation Invariance).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426693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A6BFA-4306-B9F8-6475-DA27B89CC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Rectangle 433">
            <a:extLst>
              <a:ext uri="{FF2B5EF4-FFF2-40B4-BE49-F238E27FC236}">
                <a16:creationId xmlns:a16="http://schemas.microsoft.com/office/drawing/2014/main" id="{2B000606-2719-00F7-6AFC-AA77B53EC651}"/>
              </a:ext>
            </a:extLst>
          </p:cNvPr>
          <p:cNvSpPr/>
          <p:nvPr/>
        </p:nvSpPr>
        <p:spPr>
          <a:xfrm>
            <a:off x="58260" y="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nn-NO" sz="20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Arsitektur CNN: Tahap Ekstraksi Fitur</a:t>
            </a:r>
            <a:endParaRPr lang="en-US" sz="2000" b="1" dirty="0">
              <a:solidFill>
                <a:schemeClr val="dk2"/>
              </a:solidFill>
              <a:latin typeface="Fjall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79BF56-B42A-55CF-4785-B40C40364A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" t="82869" r="34115" b="1879"/>
          <a:stretch>
            <a:fillRect/>
          </a:stretch>
        </p:blipFill>
        <p:spPr>
          <a:xfrm>
            <a:off x="196963" y="1600669"/>
            <a:ext cx="8750074" cy="138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25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435"/>
          <p:cNvSpPr/>
          <p:nvPr/>
        </p:nvSpPr>
        <p:spPr>
          <a:xfrm>
            <a:off x="2557500" y="123900"/>
            <a:ext cx="4029000" cy="5689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Arsitektur</a:t>
            </a:r>
            <a:r>
              <a:rPr lang="en-US" sz="24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CNN: </a:t>
            </a:r>
            <a:r>
              <a:rPr lang="en-US" sz="24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Tahap</a:t>
            </a:r>
            <a:r>
              <a:rPr lang="en-US" sz="24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</a:t>
            </a:r>
            <a:r>
              <a:rPr lang="en-US" sz="24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Klasifikasi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42EEDB-23F7-A2EF-F3A2-8B996E57BD2F}"/>
              </a:ext>
            </a:extLst>
          </p:cNvPr>
          <p:cNvSpPr txBox="1">
            <a:spLocks/>
          </p:cNvSpPr>
          <p:nvPr/>
        </p:nvSpPr>
        <p:spPr>
          <a:xfrm>
            <a:off x="599440" y="640080"/>
            <a:ext cx="8229600" cy="3566159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 dirty="0"/>
          </a:p>
          <a:p>
            <a:r>
              <a:rPr lang="en-ID" dirty="0"/>
              <a:t>Flattening: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2D/3D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vektor</a:t>
            </a:r>
            <a:r>
              <a:rPr lang="en-ID" dirty="0"/>
              <a:t> 1D.</a:t>
            </a:r>
          </a:p>
          <a:p>
            <a:r>
              <a:rPr lang="en-ID" dirty="0"/>
              <a:t>Dense Layer (Fully Connected):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.</a:t>
            </a:r>
          </a:p>
          <a:p>
            <a:r>
              <a:rPr lang="en-ID" dirty="0" err="1"/>
              <a:t>Softmax</a:t>
            </a:r>
            <a:r>
              <a:rPr lang="en-ID" dirty="0"/>
              <a:t>: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skor</a:t>
            </a:r>
            <a:r>
              <a:rPr lang="en-ID" dirty="0"/>
              <a:t> </a:t>
            </a:r>
            <a:r>
              <a:rPr lang="en-ID" dirty="0" err="1"/>
              <a:t>probabilitas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(</a:t>
            </a:r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Pesawat</a:t>
            </a:r>
            <a:r>
              <a:rPr lang="en-ID" dirty="0"/>
              <a:t> 90%, </a:t>
            </a:r>
            <a:r>
              <a:rPr lang="en-ID" dirty="0" err="1"/>
              <a:t>Burung</a:t>
            </a:r>
            <a:r>
              <a:rPr lang="en-ID" dirty="0"/>
              <a:t> 10%).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C47E-0E46-C118-B7AD-2BC784AA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435">
            <a:extLst>
              <a:ext uri="{FF2B5EF4-FFF2-40B4-BE49-F238E27FC236}">
                <a16:creationId xmlns:a16="http://schemas.microsoft.com/office/drawing/2014/main" id="{A2EBAE63-98C0-6848-23F8-60C5867798AA}"/>
              </a:ext>
            </a:extLst>
          </p:cNvPr>
          <p:cNvSpPr/>
          <p:nvPr/>
        </p:nvSpPr>
        <p:spPr>
          <a:xfrm>
            <a:off x="146760" y="93420"/>
            <a:ext cx="6167640" cy="5689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Arsitektur</a:t>
            </a:r>
            <a:r>
              <a:rPr lang="en-US" sz="20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CNN: </a:t>
            </a:r>
            <a:r>
              <a:rPr lang="en-US" sz="20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Tahap</a:t>
            </a:r>
            <a:r>
              <a:rPr lang="en-US" sz="20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</a:t>
            </a:r>
            <a:r>
              <a:rPr lang="en-US" sz="20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Klasifikasi</a:t>
            </a:r>
            <a:endParaRPr lang="en-US" sz="20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AED93D-ED09-B866-7EDD-907776DDC0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" t="1729" r="3548" b="2122"/>
          <a:stretch/>
        </p:blipFill>
        <p:spPr>
          <a:xfrm>
            <a:off x="752880" y="512940"/>
            <a:ext cx="6907426" cy="46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48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1912560" y="113532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Dataset: CIFAR-10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ubTitle"/>
          </p:nvPr>
        </p:nvSpPr>
        <p:spPr>
          <a:xfrm>
            <a:off x="1795680" y="1879600"/>
            <a:ext cx="5552640" cy="256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Objek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Koleksi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 60.000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gambar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berwarna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skala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kecil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(32x32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piksel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).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10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Kelas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: 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Dari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kendaraan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 (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Pesawat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, Mobil Kapal, Truk),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hingga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hewan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 (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Burung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,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Kucing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, Rusa,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Anjing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, </a:t>
            </a:r>
            <a:r>
              <a:rPr lang="en-US" sz="1800" i="1" dirty="0" err="1">
                <a:solidFill>
                  <a:schemeClr val="dk2"/>
                </a:solidFill>
                <a:latin typeface="Barlow Semi Condensed"/>
              </a:rPr>
              <a:t>Katak</a:t>
            </a:r>
            <a:r>
              <a:rPr lang="en-US" sz="1800" i="1" dirty="0">
                <a:solidFill>
                  <a:schemeClr val="dk2"/>
                </a:solidFill>
                <a:latin typeface="Barlow Semi Condensed"/>
              </a:rPr>
              <a:t>, Kuda).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Tantangan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: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Resolusi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rendah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membuat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fitur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visual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menjadi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1800" i="1" dirty="0" err="1">
                <a:solidFill>
                  <a:schemeClr val="dk2"/>
                </a:solidFill>
                <a:latin typeface="Barlow Semi Condensed"/>
              </a:rPr>
              <a:t>ambigu</a:t>
            </a:r>
            <a:r>
              <a:rPr lang="en-ID" sz="1800" i="1" dirty="0">
                <a:solidFill>
                  <a:schemeClr val="dk2"/>
                </a:solidFill>
                <a:latin typeface="Barlow Semi Condense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8E6F-33CD-670B-0F6E-8D5494D5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>
            <a:extLst>
              <a:ext uri="{FF2B5EF4-FFF2-40B4-BE49-F238E27FC236}">
                <a16:creationId xmlns:a16="http://schemas.microsoft.com/office/drawing/2014/main" id="{82C45E57-FD6E-7304-4B74-0A9EEB02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2720" y="21076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Dataset: CIFAR-10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2613C-7490-450C-D7CA-7D55C4D7D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014" y="782080"/>
            <a:ext cx="4109026" cy="418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87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454"/>
          <p:cNvSpPr/>
          <p:nvPr/>
        </p:nvSpPr>
        <p:spPr>
          <a:xfrm>
            <a:off x="619200" y="619200"/>
            <a:ext cx="3830880" cy="400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Hasil </a:t>
            </a:r>
            <a:r>
              <a:rPr lang="en-US" sz="2000" b="1" u="none" strike="noStrike" dirty="0" err="1">
                <a:solidFill>
                  <a:schemeClr val="dk2"/>
                </a:solidFill>
                <a:effectLst/>
                <a:uFillTx/>
                <a:latin typeface="Calibri"/>
              </a:rPr>
              <a:t>Eksperimen</a:t>
            </a:r>
            <a:r>
              <a:rPr lang="en-US" sz="2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 Model Baseline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C1ED67-4545-C3C8-8C70-EF7AB57414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94" b="12038"/>
          <a:stretch>
            <a:fillRect/>
          </a:stretch>
        </p:blipFill>
        <p:spPr>
          <a:xfrm>
            <a:off x="807048" y="1296606"/>
            <a:ext cx="7879752" cy="35192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E570E-8914-8C1E-A552-E804F35C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ctangle 454">
            <a:extLst>
              <a:ext uri="{FF2B5EF4-FFF2-40B4-BE49-F238E27FC236}">
                <a16:creationId xmlns:a16="http://schemas.microsoft.com/office/drawing/2014/main" id="{FC02E467-B389-B3B5-BA00-10400A0DEB68}"/>
              </a:ext>
            </a:extLst>
          </p:cNvPr>
          <p:cNvSpPr/>
          <p:nvPr/>
        </p:nvSpPr>
        <p:spPr>
          <a:xfrm>
            <a:off x="619200" y="619200"/>
            <a:ext cx="3769920" cy="4001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Hasil </a:t>
            </a:r>
            <a:r>
              <a:rPr lang="en-US" sz="2000" b="1" u="none" strike="noStrike" dirty="0" err="1">
                <a:solidFill>
                  <a:schemeClr val="dk2"/>
                </a:solidFill>
                <a:effectLst/>
                <a:uFillTx/>
                <a:latin typeface="Calibri"/>
              </a:rPr>
              <a:t>Eksperimen</a:t>
            </a:r>
            <a:r>
              <a:rPr lang="en-US" sz="2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 Model Baseline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A984BB87-3082-62C1-3538-96B18AFDE4FD}"/>
              </a:ext>
            </a:extLst>
          </p:cNvPr>
          <p:cNvSpPr/>
          <p:nvPr/>
        </p:nvSpPr>
        <p:spPr>
          <a:xfrm>
            <a:off x="5034950" y="1450840"/>
            <a:ext cx="3824570" cy="274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571500" indent="-5715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Akurasi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Training: 78.32%</a:t>
            </a:r>
            <a:endParaRPr lang="en-US" sz="1600" dirty="0">
              <a:solidFill>
                <a:schemeClr val="dk2"/>
              </a:solidFill>
              <a:latin typeface="Fjalla One"/>
            </a:endParaRPr>
          </a:p>
          <a:p>
            <a:pPr marL="571500" indent="-5715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b="0" u="none" strike="noStrike" dirty="0">
              <a:solidFill>
                <a:schemeClr val="dk2"/>
              </a:solidFill>
              <a:effectLst/>
              <a:uFillTx/>
              <a:latin typeface="Fjalla One"/>
            </a:endParaRPr>
          </a:p>
          <a:p>
            <a:pPr marL="571500" indent="-5715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Akurasi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Validation: 69.97%  </a:t>
            </a:r>
          </a:p>
          <a:p>
            <a:pPr marL="571500" indent="-5715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b="0" u="none" strike="noStrike" dirty="0">
              <a:solidFill>
                <a:schemeClr val="dk2"/>
              </a:solidFill>
              <a:effectLst/>
              <a:uFillTx/>
              <a:latin typeface="Fjalla One"/>
            </a:endParaRPr>
          </a:p>
          <a:p>
            <a:pPr marL="571500" indent="-5715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Masalah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Utama: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Terjadi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Overfitting (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selisih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gap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hampir</a:t>
            </a: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9%).</a:t>
            </a:r>
          </a:p>
          <a:p>
            <a:pPr marL="571500" indent="-5715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b="0" u="none" strike="noStrike" dirty="0">
              <a:solidFill>
                <a:schemeClr val="dk2"/>
              </a:solidFill>
              <a:effectLst/>
              <a:uFillTx/>
              <a:latin typeface="Fjalla One"/>
            </a:endParaRPr>
          </a:p>
          <a:p>
            <a:pPr marL="571500" indent="-57150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ID" sz="1600" dirty="0">
                <a:solidFill>
                  <a:schemeClr val="dk2"/>
                </a:solidFill>
                <a:latin typeface="Fjalla One"/>
              </a:rPr>
              <a:t>Kesimpulan: Model </a:t>
            </a:r>
            <a:r>
              <a:rPr lang="en-ID" sz="1600" dirty="0" err="1">
                <a:solidFill>
                  <a:schemeClr val="dk2"/>
                </a:solidFill>
                <a:latin typeface="Fjalla One"/>
              </a:rPr>
              <a:t>menghafal</a:t>
            </a:r>
            <a:r>
              <a:rPr lang="en-ID" sz="1600" dirty="0">
                <a:solidFill>
                  <a:schemeClr val="dk2"/>
                </a:solidFill>
                <a:latin typeface="Fjalla One"/>
              </a:rPr>
              <a:t> data </a:t>
            </a:r>
            <a:r>
              <a:rPr lang="en-ID" sz="1600" dirty="0" err="1">
                <a:solidFill>
                  <a:schemeClr val="dk2"/>
                </a:solidFill>
                <a:latin typeface="Fjalla One"/>
              </a:rPr>
              <a:t>latihan</a:t>
            </a:r>
            <a:r>
              <a:rPr lang="en-ID" sz="1600" dirty="0">
                <a:solidFill>
                  <a:schemeClr val="dk2"/>
                </a:solidFill>
                <a:latin typeface="Fjalla One"/>
              </a:rPr>
              <a:t> </a:t>
            </a:r>
            <a:r>
              <a:rPr lang="en-ID" sz="1600" dirty="0" err="1">
                <a:solidFill>
                  <a:schemeClr val="dk2"/>
                </a:solidFill>
                <a:latin typeface="Fjalla One"/>
              </a:rPr>
              <a:t>tapi</a:t>
            </a:r>
            <a:r>
              <a:rPr lang="en-ID" sz="1600" dirty="0">
                <a:solidFill>
                  <a:schemeClr val="dk2"/>
                </a:solidFill>
                <a:latin typeface="Fjalla One"/>
              </a:rPr>
              <a:t> </a:t>
            </a:r>
            <a:r>
              <a:rPr lang="en-ID" sz="1600" dirty="0" err="1">
                <a:solidFill>
                  <a:schemeClr val="dk2"/>
                </a:solidFill>
                <a:latin typeface="Fjalla One"/>
              </a:rPr>
              <a:t>gagal</a:t>
            </a:r>
            <a:r>
              <a:rPr lang="en-ID" sz="1600" dirty="0">
                <a:solidFill>
                  <a:schemeClr val="dk2"/>
                </a:solidFill>
                <a:latin typeface="Fjalla One"/>
              </a:rPr>
              <a:t> </a:t>
            </a:r>
            <a:r>
              <a:rPr lang="en-ID" sz="1600" dirty="0" err="1">
                <a:solidFill>
                  <a:schemeClr val="dk2"/>
                </a:solidFill>
                <a:latin typeface="Fjalla One"/>
              </a:rPr>
              <a:t>mengenali</a:t>
            </a:r>
            <a:r>
              <a:rPr lang="en-ID" sz="1600" dirty="0">
                <a:solidFill>
                  <a:schemeClr val="dk2"/>
                </a:solidFill>
                <a:latin typeface="Fjalla One"/>
              </a:rPr>
              <a:t> data </a:t>
            </a:r>
            <a:r>
              <a:rPr lang="en-ID" sz="1600" dirty="0" err="1">
                <a:solidFill>
                  <a:schemeClr val="dk2"/>
                </a:solidFill>
                <a:latin typeface="Fjalla One"/>
              </a:rPr>
              <a:t>baru</a:t>
            </a:r>
            <a:r>
              <a:rPr lang="en-ID" sz="1600" dirty="0">
                <a:solidFill>
                  <a:schemeClr val="dk2"/>
                </a:solidFill>
                <a:latin typeface="Fjalla One"/>
              </a:rPr>
              <a:t> </a:t>
            </a:r>
            <a:r>
              <a:rPr lang="en-ID" sz="1600" dirty="0" err="1">
                <a:solidFill>
                  <a:schemeClr val="dk2"/>
                </a:solidFill>
                <a:latin typeface="Fjalla One"/>
              </a:rPr>
              <a:t>secara</a:t>
            </a:r>
            <a:r>
              <a:rPr lang="en-ID" sz="1600" dirty="0">
                <a:solidFill>
                  <a:schemeClr val="dk2"/>
                </a:solidFill>
                <a:latin typeface="Fjalla One"/>
              </a:rPr>
              <a:t> optimal</a:t>
            </a:r>
            <a:r>
              <a:rPr lang="en-ID" sz="1600" dirty="0"/>
              <a:t>.</a:t>
            </a:r>
          </a:p>
          <a:p>
            <a:pPr marL="571500" indent="-571500" defTabSz="9144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FDC70-31EF-147B-691F-B3EB4E247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10" y="1368728"/>
            <a:ext cx="4242240" cy="3477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945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Rectangle 457"/>
          <p:cNvSpPr/>
          <p:nvPr/>
        </p:nvSpPr>
        <p:spPr>
          <a:xfrm>
            <a:off x="619200" y="61920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Strategi </a:t>
            </a:r>
            <a:r>
              <a:rPr lang="en-US" sz="28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</a:rPr>
              <a:t>Optimasi</a:t>
            </a:r>
            <a:r>
              <a:rPr lang="en-US" sz="2800" b="1" u="none" strike="noStrike" dirty="0">
                <a:solidFill>
                  <a:schemeClr val="dk2"/>
                </a:solidFill>
                <a:effectLst/>
                <a:uFillTx/>
                <a:latin typeface="Fjalla One"/>
              </a:rPr>
              <a:t> Model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9" name="Rectangle 458"/>
          <p:cNvSpPr/>
          <p:nvPr/>
        </p:nvSpPr>
        <p:spPr>
          <a:xfrm>
            <a:off x="961440" y="1572480"/>
            <a:ext cx="738000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Dropout: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Mematikan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neuron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secara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acak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untuk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mencegah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ketergantungan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pada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satu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fitur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(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solusi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 overfitting).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Batch Normalization: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Menstabilkan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data di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setiap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layer agar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belajar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lebih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cepat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. </a:t>
            </a:r>
            <a:r>
              <a:rPr lang="en-ID" sz="2000" dirty="0"/>
              <a:t>(</a:t>
            </a:r>
            <a:r>
              <a:rPr lang="en-US" sz="20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</a:rPr>
              <a:t>konvergen</a:t>
            </a: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).</a:t>
            </a:r>
            <a:endParaRPr lang="en-US" sz="2000" dirty="0">
              <a:solidFill>
                <a:schemeClr val="dk2"/>
              </a:solidFill>
              <a:latin typeface="Barlow Semi Condensed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Learning Rate Scheduler: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Menyesuaikan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kecepatan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belajar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agar model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tidak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'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melompat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'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saat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mendekati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</a:t>
            </a:r>
            <a:r>
              <a:rPr lang="en-ID" sz="2000" dirty="0" err="1">
                <a:solidFill>
                  <a:schemeClr val="dk2"/>
                </a:solidFill>
                <a:latin typeface="Barlow Semi Condensed"/>
              </a:rPr>
              <a:t>titik</a:t>
            </a:r>
            <a:r>
              <a:rPr lang="en-ID" sz="2000" dirty="0">
                <a:solidFill>
                  <a:schemeClr val="dk2"/>
                </a:solidFill>
                <a:latin typeface="Barlow Semi Condensed"/>
              </a:rPr>
              <a:t> optimal.</a:t>
            </a:r>
            <a:endParaRPr lang="en-US" sz="2000" dirty="0">
              <a:solidFill>
                <a:schemeClr val="dk2"/>
              </a:solidFill>
              <a:latin typeface="Barlow Semi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5A812D5-A64F-4E22-B5E3-BF098E7C2EB2}"/>
              </a:ext>
            </a:extLst>
          </p:cNvPr>
          <p:cNvGrpSpPr/>
          <p:nvPr/>
        </p:nvGrpSpPr>
        <p:grpSpPr>
          <a:xfrm>
            <a:off x="1219680" y="456300"/>
            <a:ext cx="1141920" cy="992880"/>
            <a:chOff x="3732480" y="527040"/>
            <a:chExt cx="1678680" cy="1678680"/>
          </a:xfrm>
        </p:grpSpPr>
        <p:grpSp>
          <p:nvGrpSpPr>
            <p:cNvPr id="463" name="Google Shape;2218;p40"/>
            <p:cNvGrpSpPr/>
            <p:nvPr/>
          </p:nvGrpSpPr>
          <p:grpSpPr>
            <a:xfrm>
              <a:off x="3732480" y="527040"/>
              <a:ext cx="1678680" cy="1678680"/>
              <a:chOff x="3732480" y="527040"/>
              <a:chExt cx="1678680" cy="1678680"/>
            </a:xfrm>
          </p:grpSpPr>
          <p:sp>
            <p:nvSpPr>
              <p:cNvPr id="464" name="Google Shape;2219;p40"/>
              <p:cNvSpPr/>
              <p:nvPr/>
            </p:nvSpPr>
            <p:spPr>
              <a:xfrm>
                <a:off x="3732480" y="527040"/>
                <a:ext cx="1678680" cy="1678680"/>
              </a:xfrm>
              <a:prstGeom prst="ellipse">
                <a:avLst/>
              </a:prstGeom>
              <a:solidFill>
                <a:srgbClr val="77C6FC"/>
              </a:solidFill>
              <a:ln w="9525">
                <a:solidFill>
                  <a:srgbClr val="49494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5" name="Google Shape;2220;p40"/>
              <p:cNvSpPr/>
              <p:nvPr/>
            </p:nvSpPr>
            <p:spPr>
              <a:xfrm>
                <a:off x="3956400" y="750960"/>
                <a:ext cx="1230480" cy="12304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49494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6" name="Google Shape;2221;p40"/>
            <p:cNvGrpSpPr/>
            <p:nvPr/>
          </p:nvGrpSpPr>
          <p:grpSpPr>
            <a:xfrm>
              <a:off x="4276440" y="1071000"/>
              <a:ext cx="591120" cy="590400"/>
              <a:chOff x="4276440" y="1071000"/>
              <a:chExt cx="591120" cy="590400"/>
            </a:xfrm>
          </p:grpSpPr>
          <p:sp>
            <p:nvSpPr>
              <p:cNvPr id="467" name="Google Shape;2222;p40"/>
              <p:cNvSpPr/>
              <p:nvPr/>
            </p:nvSpPr>
            <p:spPr>
              <a:xfrm>
                <a:off x="4276440" y="1073520"/>
                <a:ext cx="591120" cy="587880"/>
              </a:xfrm>
              <a:custGeom>
                <a:avLst/>
                <a:gdLst>
                  <a:gd name="textAreaLeft" fmla="*/ 0 w 591120"/>
                  <a:gd name="textAreaRight" fmla="*/ 591480 w 591120"/>
                  <a:gd name="textAreaTop" fmla="*/ 0 h 587880"/>
                  <a:gd name="textAreaBottom" fmla="*/ 588240 h 587880"/>
                </a:gdLst>
                <a:ahLst/>
                <a:cxnLst/>
                <a:rect l="textAreaLeft" t="textAreaTop" r="textAreaRight" b="textAreaBottom"/>
                <a:pathLst>
                  <a:path w="209550" h="208413">
                    <a:moveTo>
                      <a:pt x="149830" y="7449"/>
                    </a:moveTo>
                    <a:lnTo>
                      <a:pt x="163530" y="9379"/>
                    </a:lnTo>
                    <a:lnTo>
                      <a:pt x="162179" y="19412"/>
                    </a:lnTo>
                    <a:cubicBezTo>
                      <a:pt x="161311" y="25105"/>
                      <a:pt x="165267" y="30411"/>
                      <a:pt x="170959" y="31279"/>
                    </a:cubicBezTo>
                    <a:cubicBezTo>
                      <a:pt x="171435" y="31345"/>
                      <a:pt x="171909" y="31377"/>
                      <a:pt x="172378" y="31377"/>
                    </a:cubicBezTo>
                    <a:cubicBezTo>
                      <a:pt x="174663" y="31377"/>
                      <a:pt x="176836" y="30614"/>
                      <a:pt x="178677" y="29253"/>
                    </a:cubicBezTo>
                    <a:lnTo>
                      <a:pt x="186878" y="23175"/>
                    </a:lnTo>
                    <a:lnTo>
                      <a:pt x="195175" y="34270"/>
                    </a:lnTo>
                    <a:lnTo>
                      <a:pt x="187071" y="40348"/>
                    </a:lnTo>
                    <a:cubicBezTo>
                      <a:pt x="182440" y="43821"/>
                      <a:pt x="181475" y="50382"/>
                      <a:pt x="184948" y="54916"/>
                    </a:cubicBezTo>
                    <a:cubicBezTo>
                      <a:pt x="186588" y="57135"/>
                      <a:pt x="189097" y="58679"/>
                      <a:pt x="191798" y="59065"/>
                    </a:cubicBezTo>
                    <a:lnTo>
                      <a:pt x="201832" y="60415"/>
                    </a:lnTo>
                    <a:lnTo>
                      <a:pt x="199902" y="74212"/>
                    </a:lnTo>
                    <a:lnTo>
                      <a:pt x="189869" y="72765"/>
                    </a:lnTo>
                    <a:cubicBezTo>
                      <a:pt x="189391" y="72700"/>
                      <a:pt x="188917" y="72668"/>
                      <a:pt x="188447" y="72668"/>
                    </a:cubicBezTo>
                    <a:cubicBezTo>
                      <a:pt x="183318" y="72668"/>
                      <a:pt x="178797" y="76426"/>
                      <a:pt x="178002" y="81641"/>
                    </a:cubicBezTo>
                    <a:cubicBezTo>
                      <a:pt x="177616" y="84342"/>
                      <a:pt x="178388" y="87140"/>
                      <a:pt x="180028" y="89359"/>
                    </a:cubicBezTo>
                    <a:lnTo>
                      <a:pt x="186106" y="97463"/>
                    </a:lnTo>
                    <a:lnTo>
                      <a:pt x="175011" y="105760"/>
                    </a:lnTo>
                    <a:lnTo>
                      <a:pt x="168933" y="97656"/>
                    </a:lnTo>
                    <a:cubicBezTo>
                      <a:pt x="166888" y="94930"/>
                      <a:pt x="163773" y="93507"/>
                      <a:pt x="160632" y="93507"/>
                    </a:cubicBezTo>
                    <a:cubicBezTo>
                      <a:pt x="158437" y="93507"/>
                      <a:pt x="156230" y="94201"/>
                      <a:pt x="154365" y="95630"/>
                    </a:cubicBezTo>
                    <a:cubicBezTo>
                      <a:pt x="152146" y="97270"/>
                      <a:pt x="150698" y="99682"/>
                      <a:pt x="150216" y="102480"/>
                    </a:cubicBezTo>
                    <a:lnTo>
                      <a:pt x="148865" y="112514"/>
                    </a:lnTo>
                    <a:lnTo>
                      <a:pt x="135069" y="110584"/>
                    </a:lnTo>
                    <a:lnTo>
                      <a:pt x="136516" y="100454"/>
                    </a:lnTo>
                    <a:cubicBezTo>
                      <a:pt x="137385" y="94762"/>
                      <a:pt x="133429" y="89552"/>
                      <a:pt x="127737" y="88683"/>
                    </a:cubicBezTo>
                    <a:cubicBezTo>
                      <a:pt x="127260" y="88618"/>
                      <a:pt x="126787" y="88586"/>
                      <a:pt x="126318" y="88586"/>
                    </a:cubicBezTo>
                    <a:cubicBezTo>
                      <a:pt x="124033" y="88586"/>
                      <a:pt x="121860" y="89349"/>
                      <a:pt x="120019" y="90710"/>
                    </a:cubicBezTo>
                    <a:lnTo>
                      <a:pt x="111818" y="96788"/>
                    </a:lnTo>
                    <a:lnTo>
                      <a:pt x="103521" y="85693"/>
                    </a:lnTo>
                    <a:lnTo>
                      <a:pt x="111625" y="79615"/>
                    </a:lnTo>
                    <a:cubicBezTo>
                      <a:pt x="116256" y="76141"/>
                      <a:pt x="117221" y="69581"/>
                      <a:pt x="113747" y="64950"/>
                    </a:cubicBezTo>
                    <a:cubicBezTo>
                      <a:pt x="112107" y="62731"/>
                      <a:pt x="109599" y="61284"/>
                      <a:pt x="106898" y="60898"/>
                    </a:cubicBezTo>
                    <a:lnTo>
                      <a:pt x="96767" y="59451"/>
                    </a:lnTo>
                    <a:lnTo>
                      <a:pt x="98793" y="45751"/>
                    </a:lnTo>
                    <a:lnTo>
                      <a:pt x="108827" y="47198"/>
                    </a:lnTo>
                    <a:cubicBezTo>
                      <a:pt x="109304" y="47263"/>
                      <a:pt x="109779" y="47294"/>
                      <a:pt x="110248" y="47294"/>
                    </a:cubicBezTo>
                    <a:cubicBezTo>
                      <a:pt x="115377" y="47294"/>
                      <a:pt x="119890" y="43537"/>
                      <a:pt x="120597" y="38322"/>
                    </a:cubicBezTo>
                    <a:cubicBezTo>
                      <a:pt x="120983" y="35621"/>
                      <a:pt x="120308" y="32823"/>
                      <a:pt x="118668" y="30604"/>
                    </a:cubicBezTo>
                    <a:lnTo>
                      <a:pt x="112493" y="22500"/>
                    </a:lnTo>
                    <a:lnTo>
                      <a:pt x="123588" y="14106"/>
                    </a:lnTo>
                    <a:lnTo>
                      <a:pt x="129763" y="22307"/>
                    </a:lnTo>
                    <a:cubicBezTo>
                      <a:pt x="131820" y="24993"/>
                      <a:pt x="134928" y="26427"/>
                      <a:pt x="138082" y="26427"/>
                    </a:cubicBezTo>
                    <a:cubicBezTo>
                      <a:pt x="140252" y="26427"/>
                      <a:pt x="142444" y="25748"/>
                      <a:pt x="144331" y="24333"/>
                    </a:cubicBezTo>
                    <a:cubicBezTo>
                      <a:pt x="146550" y="22693"/>
                      <a:pt x="147997" y="20184"/>
                      <a:pt x="148383" y="17483"/>
                    </a:cubicBezTo>
                    <a:lnTo>
                      <a:pt x="149830" y="7449"/>
                    </a:lnTo>
                    <a:close/>
                    <a:moveTo>
                      <a:pt x="45248" y="107690"/>
                    </a:moveTo>
                    <a:cubicBezTo>
                      <a:pt x="48432" y="114540"/>
                      <a:pt x="52870" y="120811"/>
                      <a:pt x="58176" y="126213"/>
                    </a:cubicBezTo>
                    <a:cubicBezTo>
                      <a:pt x="56131" y="131893"/>
                      <a:pt x="50817" y="135433"/>
                      <a:pt x="45127" y="135433"/>
                    </a:cubicBezTo>
                    <a:cubicBezTo>
                      <a:pt x="43568" y="135433"/>
                      <a:pt x="41980" y="135167"/>
                      <a:pt x="40424" y="134607"/>
                    </a:cubicBezTo>
                    <a:cubicBezTo>
                      <a:pt x="33188" y="132002"/>
                      <a:pt x="29426" y="124091"/>
                      <a:pt x="32031" y="116855"/>
                    </a:cubicBezTo>
                    <a:cubicBezTo>
                      <a:pt x="34057" y="111356"/>
                      <a:pt x="39267" y="107690"/>
                      <a:pt x="45152" y="107690"/>
                    </a:cubicBezTo>
                    <a:close/>
                    <a:moveTo>
                      <a:pt x="39845" y="89166"/>
                    </a:moveTo>
                    <a:cubicBezTo>
                      <a:pt x="40328" y="93121"/>
                      <a:pt x="41293" y="97077"/>
                      <a:pt x="42547" y="100936"/>
                    </a:cubicBezTo>
                    <a:cubicBezTo>
                      <a:pt x="31162" y="102287"/>
                      <a:pt x="22962" y="112610"/>
                      <a:pt x="24312" y="124091"/>
                    </a:cubicBezTo>
                    <a:cubicBezTo>
                      <a:pt x="25565" y="134650"/>
                      <a:pt x="34620" y="142471"/>
                      <a:pt x="45011" y="142471"/>
                    </a:cubicBezTo>
                    <a:cubicBezTo>
                      <a:pt x="45822" y="142471"/>
                      <a:pt x="46642" y="142423"/>
                      <a:pt x="47467" y="142325"/>
                    </a:cubicBezTo>
                    <a:cubicBezTo>
                      <a:pt x="54414" y="141457"/>
                      <a:pt x="60395" y="137308"/>
                      <a:pt x="63579" y="131134"/>
                    </a:cubicBezTo>
                    <a:cubicBezTo>
                      <a:pt x="65412" y="132677"/>
                      <a:pt x="67438" y="134125"/>
                      <a:pt x="69464" y="135475"/>
                    </a:cubicBezTo>
                    <a:cubicBezTo>
                      <a:pt x="72744" y="137501"/>
                      <a:pt x="75253" y="140685"/>
                      <a:pt x="76507" y="144351"/>
                    </a:cubicBezTo>
                    <a:lnTo>
                      <a:pt x="69078" y="151780"/>
                    </a:lnTo>
                    <a:lnTo>
                      <a:pt x="61842" y="146763"/>
                    </a:lnTo>
                    <a:cubicBezTo>
                      <a:pt x="60637" y="145960"/>
                      <a:pt x="59266" y="145571"/>
                      <a:pt x="57911" y="145571"/>
                    </a:cubicBezTo>
                    <a:cubicBezTo>
                      <a:pt x="55689" y="145571"/>
                      <a:pt x="53513" y="146618"/>
                      <a:pt x="52195" y="148596"/>
                    </a:cubicBezTo>
                    <a:cubicBezTo>
                      <a:pt x="51616" y="149368"/>
                      <a:pt x="51326" y="150236"/>
                      <a:pt x="51133" y="151105"/>
                    </a:cubicBezTo>
                    <a:lnTo>
                      <a:pt x="49300" y="159788"/>
                    </a:lnTo>
                    <a:lnTo>
                      <a:pt x="41003" y="159788"/>
                    </a:lnTo>
                    <a:lnTo>
                      <a:pt x="39170" y="151105"/>
                    </a:lnTo>
                    <a:cubicBezTo>
                      <a:pt x="38495" y="147815"/>
                      <a:pt x="35608" y="145558"/>
                      <a:pt x="32379" y="145558"/>
                    </a:cubicBezTo>
                    <a:cubicBezTo>
                      <a:pt x="31914" y="145558"/>
                      <a:pt x="31443" y="145605"/>
                      <a:pt x="30969" y="145702"/>
                    </a:cubicBezTo>
                    <a:cubicBezTo>
                      <a:pt x="30101" y="145895"/>
                      <a:pt x="29233" y="146281"/>
                      <a:pt x="28461" y="146860"/>
                    </a:cubicBezTo>
                    <a:lnTo>
                      <a:pt x="21225" y="151780"/>
                    </a:lnTo>
                    <a:lnTo>
                      <a:pt x="14954" y="145509"/>
                    </a:lnTo>
                    <a:lnTo>
                      <a:pt x="19874" y="138273"/>
                    </a:lnTo>
                    <a:cubicBezTo>
                      <a:pt x="22093" y="135089"/>
                      <a:pt x="21322" y="130748"/>
                      <a:pt x="18138" y="128625"/>
                    </a:cubicBezTo>
                    <a:cubicBezTo>
                      <a:pt x="17366" y="128046"/>
                      <a:pt x="16498" y="127661"/>
                      <a:pt x="15629" y="127468"/>
                    </a:cubicBezTo>
                    <a:lnTo>
                      <a:pt x="6946" y="125731"/>
                    </a:lnTo>
                    <a:lnTo>
                      <a:pt x="6946" y="117434"/>
                    </a:lnTo>
                    <a:lnTo>
                      <a:pt x="15629" y="115601"/>
                    </a:lnTo>
                    <a:cubicBezTo>
                      <a:pt x="19392" y="114829"/>
                      <a:pt x="21708" y="111163"/>
                      <a:pt x="20936" y="107400"/>
                    </a:cubicBezTo>
                    <a:cubicBezTo>
                      <a:pt x="20743" y="106532"/>
                      <a:pt x="20453" y="105664"/>
                      <a:pt x="19874" y="104892"/>
                    </a:cubicBezTo>
                    <a:lnTo>
                      <a:pt x="14954" y="97656"/>
                    </a:lnTo>
                    <a:lnTo>
                      <a:pt x="21225" y="91385"/>
                    </a:lnTo>
                    <a:lnTo>
                      <a:pt x="28461" y="96305"/>
                    </a:lnTo>
                    <a:cubicBezTo>
                      <a:pt x="29670" y="97148"/>
                      <a:pt x="31045" y="97545"/>
                      <a:pt x="32403" y="97545"/>
                    </a:cubicBezTo>
                    <a:cubicBezTo>
                      <a:pt x="34621" y="97545"/>
                      <a:pt x="36792" y="96484"/>
                      <a:pt x="38109" y="94569"/>
                    </a:cubicBezTo>
                    <a:cubicBezTo>
                      <a:pt x="38688" y="93797"/>
                      <a:pt x="38977" y="92929"/>
                      <a:pt x="39170" y="92060"/>
                    </a:cubicBezTo>
                    <a:lnTo>
                      <a:pt x="39845" y="89166"/>
                    </a:lnTo>
                    <a:close/>
                    <a:moveTo>
                      <a:pt x="118957" y="177154"/>
                    </a:moveTo>
                    <a:lnTo>
                      <a:pt x="118957" y="184100"/>
                    </a:lnTo>
                    <a:lnTo>
                      <a:pt x="91172" y="184100"/>
                    </a:lnTo>
                    <a:lnTo>
                      <a:pt x="91172" y="177154"/>
                    </a:lnTo>
                    <a:close/>
                    <a:moveTo>
                      <a:pt x="118957" y="191047"/>
                    </a:moveTo>
                    <a:lnTo>
                      <a:pt x="118957" y="194520"/>
                    </a:lnTo>
                    <a:cubicBezTo>
                      <a:pt x="118957" y="198282"/>
                      <a:pt x="115870" y="201466"/>
                      <a:pt x="112011" y="201466"/>
                    </a:cubicBezTo>
                    <a:lnTo>
                      <a:pt x="98118" y="201466"/>
                    </a:lnTo>
                    <a:cubicBezTo>
                      <a:pt x="94355" y="201466"/>
                      <a:pt x="91172" y="198282"/>
                      <a:pt x="91172" y="194520"/>
                    </a:cubicBezTo>
                    <a:lnTo>
                      <a:pt x="91172" y="191047"/>
                    </a:lnTo>
                    <a:close/>
                    <a:moveTo>
                      <a:pt x="146950" y="1"/>
                    </a:moveTo>
                    <a:cubicBezTo>
                      <a:pt x="145260" y="1"/>
                      <a:pt x="143732" y="1213"/>
                      <a:pt x="143463" y="3011"/>
                    </a:cubicBezTo>
                    <a:lnTo>
                      <a:pt x="141533" y="16518"/>
                    </a:lnTo>
                    <a:cubicBezTo>
                      <a:pt x="141272" y="18262"/>
                      <a:pt x="139828" y="19454"/>
                      <a:pt x="138129" y="19454"/>
                    </a:cubicBezTo>
                    <a:cubicBezTo>
                      <a:pt x="137948" y="19454"/>
                      <a:pt x="137763" y="19440"/>
                      <a:pt x="137577" y="19412"/>
                    </a:cubicBezTo>
                    <a:cubicBezTo>
                      <a:pt x="136709" y="19316"/>
                      <a:pt x="135841" y="18833"/>
                      <a:pt x="135262" y="18062"/>
                    </a:cubicBezTo>
                    <a:lnTo>
                      <a:pt x="127061" y="7160"/>
                    </a:lnTo>
                    <a:cubicBezTo>
                      <a:pt x="126437" y="6251"/>
                      <a:pt x="125411" y="5777"/>
                      <a:pt x="124357" y="5777"/>
                    </a:cubicBezTo>
                    <a:cubicBezTo>
                      <a:pt x="123621" y="5777"/>
                      <a:pt x="122872" y="6008"/>
                      <a:pt x="122238" y="6484"/>
                    </a:cubicBezTo>
                    <a:lnTo>
                      <a:pt x="111818" y="14299"/>
                    </a:lnTo>
                    <a:cubicBezTo>
                      <a:pt x="109454" y="14058"/>
                      <a:pt x="107090" y="13937"/>
                      <a:pt x="104727" y="13937"/>
                    </a:cubicBezTo>
                    <a:cubicBezTo>
                      <a:pt x="102363" y="13937"/>
                      <a:pt x="99999" y="14058"/>
                      <a:pt x="97636" y="14299"/>
                    </a:cubicBezTo>
                    <a:cubicBezTo>
                      <a:pt x="66666" y="17869"/>
                      <a:pt x="42450" y="42471"/>
                      <a:pt x="39459" y="73440"/>
                    </a:cubicBezTo>
                    <a:cubicBezTo>
                      <a:pt x="39363" y="74501"/>
                      <a:pt x="39267" y="75466"/>
                      <a:pt x="39267" y="76431"/>
                    </a:cubicBezTo>
                    <a:lnTo>
                      <a:pt x="38205" y="76431"/>
                    </a:lnTo>
                    <a:cubicBezTo>
                      <a:pt x="36565" y="76431"/>
                      <a:pt x="35118" y="77589"/>
                      <a:pt x="34829" y="79229"/>
                    </a:cubicBezTo>
                    <a:lnTo>
                      <a:pt x="32417" y="90613"/>
                    </a:lnTo>
                    <a:lnTo>
                      <a:pt x="22769" y="83956"/>
                    </a:lnTo>
                    <a:cubicBezTo>
                      <a:pt x="22185" y="83539"/>
                      <a:pt x="21511" y="83338"/>
                      <a:pt x="20833" y="83338"/>
                    </a:cubicBezTo>
                    <a:cubicBezTo>
                      <a:pt x="19942" y="83338"/>
                      <a:pt x="19043" y="83685"/>
                      <a:pt x="18331" y="84342"/>
                    </a:cubicBezTo>
                    <a:lnTo>
                      <a:pt x="7911" y="94762"/>
                    </a:lnTo>
                    <a:cubicBezTo>
                      <a:pt x="6753" y="96016"/>
                      <a:pt x="6560" y="97849"/>
                      <a:pt x="7525" y="99200"/>
                    </a:cubicBezTo>
                    <a:lnTo>
                      <a:pt x="14182" y="108847"/>
                    </a:lnTo>
                    <a:lnTo>
                      <a:pt x="2701" y="111259"/>
                    </a:lnTo>
                    <a:cubicBezTo>
                      <a:pt x="1158" y="111549"/>
                      <a:pt x="0" y="112996"/>
                      <a:pt x="0" y="114636"/>
                    </a:cubicBezTo>
                    <a:lnTo>
                      <a:pt x="0" y="128529"/>
                    </a:lnTo>
                    <a:cubicBezTo>
                      <a:pt x="0" y="130169"/>
                      <a:pt x="1158" y="131616"/>
                      <a:pt x="2798" y="131906"/>
                    </a:cubicBezTo>
                    <a:lnTo>
                      <a:pt x="14182" y="134318"/>
                    </a:lnTo>
                    <a:lnTo>
                      <a:pt x="7622" y="143869"/>
                    </a:lnTo>
                    <a:cubicBezTo>
                      <a:pt x="6657" y="145316"/>
                      <a:pt x="6753" y="147149"/>
                      <a:pt x="8008" y="148307"/>
                    </a:cubicBezTo>
                    <a:lnTo>
                      <a:pt x="18427" y="158726"/>
                    </a:lnTo>
                    <a:cubicBezTo>
                      <a:pt x="19085" y="159384"/>
                      <a:pt x="19960" y="159730"/>
                      <a:pt x="20858" y="159730"/>
                    </a:cubicBezTo>
                    <a:cubicBezTo>
                      <a:pt x="21542" y="159730"/>
                      <a:pt x="22240" y="159529"/>
                      <a:pt x="22865" y="159112"/>
                    </a:cubicBezTo>
                    <a:lnTo>
                      <a:pt x="32417" y="152552"/>
                    </a:lnTo>
                    <a:lnTo>
                      <a:pt x="34829" y="163936"/>
                    </a:lnTo>
                    <a:cubicBezTo>
                      <a:pt x="35118" y="165576"/>
                      <a:pt x="36565" y="166734"/>
                      <a:pt x="38205" y="166734"/>
                    </a:cubicBezTo>
                    <a:lnTo>
                      <a:pt x="52098" y="166734"/>
                    </a:lnTo>
                    <a:cubicBezTo>
                      <a:pt x="53738" y="166734"/>
                      <a:pt x="55185" y="165576"/>
                      <a:pt x="55475" y="163936"/>
                    </a:cubicBezTo>
                    <a:lnTo>
                      <a:pt x="57887" y="152552"/>
                    </a:lnTo>
                    <a:lnTo>
                      <a:pt x="67535" y="159112"/>
                    </a:lnTo>
                    <a:cubicBezTo>
                      <a:pt x="68118" y="159529"/>
                      <a:pt x="68792" y="159730"/>
                      <a:pt x="69463" y="159730"/>
                    </a:cubicBezTo>
                    <a:cubicBezTo>
                      <a:pt x="70344" y="159730"/>
                      <a:pt x="71219" y="159384"/>
                      <a:pt x="71876" y="158726"/>
                    </a:cubicBezTo>
                    <a:lnTo>
                      <a:pt x="77279" y="153324"/>
                    </a:lnTo>
                    <a:lnTo>
                      <a:pt x="77279" y="163261"/>
                    </a:lnTo>
                    <a:cubicBezTo>
                      <a:pt x="77375" y="168181"/>
                      <a:pt x="79980" y="172716"/>
                      <a:pt x="84225" y="175224"/>
                    </a:cubicBezTo>
                    <a:lnTo>
                      <a:pt x="84225" y="194520"/>
                    </a:lnTo>
                    <a:cubicBezTo>
                      <a:pt x="84225" y="202142"/>
                      <a:pt x="90496" y="208413"/>
                      <a:pt x="98118" y="208413"/>
                    </a:cubicBezTo>
                    <a:lnTo>
                      <a:pt x="112011" y="208413"/>
                    </a:lnTo>
                    <a:cubicBezTo>
                      <a:pt x="119729" y="208413"/>
                      <a:pt x="125904" y="202142"/>
                      <a:pt x="125904" y="194520"/>
                    </a:cubicBezTo>
                    <a:lnTo>
                      <a:pt x="125904" y="175224"/>
                    </a:lnTo>
                    <a:cubicBezTo>
                      <a:pt x="130245" y="172716"/>
                      <a:pt x="132850" y="168181"/>
                      <a:pt x="132850" y="163261"/>
                    </a:cubicBezTo>
                    <a:lnTo>
                      <a:pt x="132850" y="149465"/>
                    </a:lnTo>
                    <a:cubicBezTo>
                      <a:pt x="132947" y="143676"/>
                      <a:pt x="136034" y="138370"/>
                      <a:pt x="140954" y="135282"/>
                    </a:cubicBezTo>
                    <a:cubicBezTo>
                      <a:pt x="143752" y="133449"/>
                      <a:pt x="146550" y="131327"/>
                      <a:pt x="149058" y="129108"/>
                    </a:cubicBezTo>
                    <a:lnTo>
                      <a:pt x="144427" y="123898"/>
                    </a:lnTo>
                    <a:cubicBezTo>
                      <a:pt x="142208" y="125924"/>
                      <a:pt x="139700" y="127854"/>
                      <a:pt x="137095" y="129494"/>
                    </a:cubicBezTo>
                    <a:cubicBezTo>
                      <a:pt x="130245" y="133835"/>
                      <a:pt x="126000" y="141360"/>
                      <a:pt x="125904" y="149465"/>
                    </a:cubicBezTo>
                    <a:lnTo>
                      <a:pt x="125904" y="163261"/>
                    </a:lnTo>
                    <a:cubicBezTo>
                      <a:pt x="125904" y="167024"/>
                      <a:pt x="122816" y="170207"/>
                      <a:pt x="118957" y="170207"/>
                    </a:cubicBezTo>
                    <a:lnTo>
                      <a:pt x="91172" y="170207"/>
                    </a:lnTo>
                    <a:cubicBezTo>
                      <a:pt x="87409" y="170207"/>
                      <a:pt x="84225" y="167024"/>
                      <a:pt x="84225" y="163261"/>
                    </a:cubicBezTo>
                    <a:lnTo>
                      <a:pt x="84225" y="149175"/>
                    </a:lnTo>
                    <a:cubicBezTo>
                      <a:pt x="84225" y="141167"/>
                      <a:pt x="79980" y="133835"/>
                      <a:pt x="73227" y="129590"/>
                    </a:cubicBezTo>
                    <a:cubicBezTo>
                      <a:pt x="45731" y="112321"/>
                      <a:pt x="37433" y="75948"/>
                      <a:pt x="54703" y="48452"/>
                    </a:cubicBezTo>
                    <a:cubicBezTo>
                      <a:pt x="65412" y="31376"/>
                      <a:pt x="84225" y="20956"/>
                      <a:pt x="104389" y="20860"/>
                    </a:cubicBezTo>
                    <a:lnTo>
                      <a:pt x="104389" y="20860"/>
                    </a:lnTo>
                    <a:lnTo>
                      <a:pt x="104196" y="21245"/>
                    </a:lnTo>
                    <a:cubicBezTo>
                      <a:pt x="104100" y="22210"/>
                      <a:pt x="104293" y="23079"/>
                      <a:pt x="104871" y="23850"/>
                    </a:cubicBezTo>
                    <a:lnTo>
                      <a:pt x="113072" y="34752"/>
                    </a:lnTo>
                    <a:cubicBezTo>
                      <a:pt x="113940" y="35910"/>
                      <a:pt x="114037" y="37454"/>
                      <a:pt x="113265" y="38611"/>
                    </a:cubicBezTo>
                    <a:cubicBezTo>
                      <a:pt x="112694" y="39672"/>
                      <a:pt x="111572" y="40318"/>
                      <a:pt x="110423" y="40318"/>
                    </a:cubicBezTo>
                    <a:cubicBezTo>
                      <a:pt x="110212" y="40318"/>
                      <a:pt x="110001" y="40296"/>
                      <a:pt x="109792" y="40252"/>
                    </a:cubicBezTo>
                    <a:lnTo>
                      <a:pt x="96285" y="38322"/>
                    </a:lnTo>
                    <a:cubicBezTo>
                      <a:pt x="96154" y="38309"/>
                      <a:pt x="96024" y="38302"/>
                      <a:pt x="95895" y="38302"/>
                    </a:cubicBezTo>
                    <a:cubicBezTo>
                      <a:pt x="94126" y="38302"/>
                      <a:pt x="92599" y="39514"/>
                      <a:pt x="92329" y="41313"/>
                    </a:cubicBezTo>
                    <a:lnTo>
                      <a:pt x="89435" y="61959"/>
                    </a:lnTo>
                    <a:cubicBezTo>
                      <a:pt x="89146" y="63792"/>
                      <a:pt x="90496" y="65625"/>
                      <a:pt x="92329" y="65915"/>
                    </a:cubicBezTo>
                    <a:lnTo>
                      <a:pt x="105836" y="67844"/>
                    </a:lnTo>
                    <a:cubicBezTo>
                      <a:pt x="107766" y="68037"/>
                      <a:pt x="109117" y="69870"/>
                      <a:pt x="108827" y="71703"/>
                    </a:cubicBezTo>
                    <a:cubicBezTo>
                      <a:pt x="108731" y="72668"/>
                      <a:pt x="108248" y="73440"/>
                      <a:pt x="107476" y="74019"/>
                    </a:cubicBezTo>
                    <a:lnTo>
                      <a:pt x="96574" y="82219"/>
                    </a:lnTo>
                    <a:cubicBezTo>
                      <a:pt x="95031" y="83377"/>
                      <a:pt x="94741" y="85500"/>
                      <a:pt x="95899" y="87043"/>
                    </a:cubicBezTo>
                    <a:lnTo>
                      <a:pt x="108345" y="103734"/>
                    </a:lnTo>
                    <a:cubicBezTo>
                      <a:pt x="109026" y="104643"/>
                      <a:pt x="110076" y="105117"/>
                      <a:pt x="111139" y="105117"/>
                    </a:cubicBezTo>
                    <a:cubicBezTo>
                      <a:pt x="111881" y="105117"/>
                      <a:pt x="112630" y="104886"/>
                      <a:pt x="113265" y="104409"/>
                    </a:cubicBezTo>
                    <a:lnTo>
                      <a:pt x="124167" y="96209"/>
                    </a:lnTo>
                    <a:cubicBezTo>
                      <a:pt x="124776" y="95752"/>
                      <a:pt x="125475" y="95536"/>
                      <a:pt x="126169" y="95536"/>
                    </a:cubicBezTo>
                    <a:cubicBezTo>
                      <a:pt x="127235" y="95536"/>
                      <a:pt x="128290" y="96046"/>
                      <a:pt x="128991" y="96981"/>
                    </a:cubicBezTo>
                    <a:cubicBezTo>
                      <a:pt x="129570" y="97656"/>
                      <a:pt x="129763" y="98621"/>
                      <a:pt x="129666" y="99489"/>
                    </a:cubicBezTo>
                    <a:lnTo>
                      <a:pt x="127737" y="112996"/>
                    </a:lnTo>
                    <a:cubicBezTo>
                      <a:pt x="127447" y="114925"/>
                      <a:pt x="128798" y="116662"/>
                      <a:pt x="130631" y="116952"/>
                    </a:cubicBezTo>
                    <a:lnTo>
                      <a:pt x="151277" y="119942"/>
                    </a:lnTo>
                    <a:lnTo>
                      <a:pt x="151760" y="119942"/>
                    </a:lnTo>
                    <a:cubicBezTo>
                      <a:pt x="153496" y="119942"/>
                      <a:pt x="154944" y="118688"/>
                      <a:pt x="155233" y="116952"/>
                    </a:cubicBezTo>
                    <a:lnTo>
                      <a:pt x="157163" y="103445"/>
                    </a:lnTo>
                    <a:cubicBezTo>
                      <a:pt x="157432" y="101646"/>
                      <a:pt x="158959" y="100434"/>
                      <a:pt x="160728" y="100434"/>
                    </a:cubicBezTo>
                    <a:cubicBezTo>
                      <a:pt x="160857" y="100434"/>
                      <a:pt x="160987" y="100441"/>
                      <a:pt x="161118" y="100454"/>
                    </a:cubicBezTo>
                    <a:cubicBezTo>
                      <a:pt x="161986" y="100647"/>
                      <a:pt x="162855" y="101129"/>
                      <a:pt x="163337" y="101804"/>
                    </a:cubicBezTo>
                    <a:lnTo>
                      <a:pt x="171538" y="112803"/>
                    </a:lnTo>
                    <a:cubicBezTo>
                      <a:pt x="172232" y="113671"/>
                      <a:pt x="173309" y="114158"/>
                      <a:pt x="174393" y="114158"/>
                    </a:cubicBezTo>
                    <a:cubicBezTo>
                      <a:pt x="175115" y="114158"/>
                      <a:pt x="175841" y="113941"/>
                      <a:pt x="176458" y="113478"/>
                    </a:cubicBezTo>
                    <a:lnTo>
                      <a:pt x="193052" y="100936"/>
                    </a:lnTo>
                    <a:cubicBezTo>
                      <a:pt x="194596" y="99778"/>
                      <a:pt x="194982" y="97656"/>
                      <a:pt x="193824" y="96112"/>
                    </a:cubicBezTo>
                    <a:lnTo>
                      <a:pt x="185623" y="85210"/>
                    </a:lnTo>
                    <a:cubicBezTo>
                      <a:pt x="184755" y="84053"/>
                      <a:pt x="184659" y="82509"/>
                      <a:pt x="185431" y="81351"/>
                    </a:cubicBezTo>
                    <a:cubicBezTo>
                      <a:pt x="186029" y="80239"/>
                      <a:pt x="187159" y="79582"/>
                      <a:pt x="188417" y="79582"/>
                    </a:cubicBezTo>
                    <a:cubicBezTo>
                      <a:pt x="188577" y="79582"/>
                      <a:pt x="188740" y="79593"/>
                      <a:pt x="188904" y="79615"/>
                    </a:cubicBezTo>
                    <a:lnTo>
                      <a:pt x="202411" y="81544"/>
                    </a:lnTo>
                    <a:cubicBezTo>
                      <a:pt x="202587" y="81572"/>
                      <a:pt x="202764" y="81586"/>
                      <a:pt x="202939" y="81586"/>
                    </a:cubicBezTo>
                    <a:cubicBezTo>
                      <a:pt x="204582" y="81586"/>
                      <a:pt x="206095" y="80393"/>
                      <a:pt x="206270" y="78650"/>
                    </a:cubicBezTo>
                    <a:lnTo>
                      <a:pt x="209261" y="58004"/>
                    </a:lnTo>
                    <a:cubicBezTo>
                      <a:pt x="209550" y="56074"/>
                      <a:pt x="208199" y="54337"/>
                      <a:pt x="206270" y="54048"/>
                    </a:cubicBezTo>
                    <a:lnTo>
                      <a:pt x="192763" y="52118"/>
                    </a:lnTo>
                    <a:cubicBezTo>
                      <a:pt x="190930" y="51829"/>
                      <a:pt x="189579" y="50092"/>
                      <a:pt x="189869" y="48259"/>
                    </a:cubicBezTo>
                    <a:cubicBezTo>
                      <a:pt x="189965" y="47294"/>
                      <a:pt x="190447" y="46523"/>
                      <a:pt x="191219" y="45944"/>
                    </a:cubicBezTo>
                    <a:lnTo>
                      <a:pt x="202121" y="37743"/>
                    </a:lnTo>
                    <a:cubicBezTo>
                      <a:pt x="203665" y="36585"/>
                      <a:pt x="203954" y="34366"/>
                      <a:pt x="202797" y="32919"/>
                    </a:cubicBezTo>
                    <a:lnTo>
                      <a:pt x="190351" y="16229"/>
                    </a:lnTo>
                    <a:cubicBezTo>
                      <a:pt x="189669" y="15320"/>
                      <a:pt x="188620" y="14846"/>
                      <a:pt x="187557" y="14846"/>
                    </a:cubicBezTo>
                    <a:cubicBezTo>
                      <a:pt x="186814" y="14846"/>
                      <a:pt x="186065" y="15077"/>
                      <a:pt x="185431" y="15553"/>
                    </a:cubicBezTo>
                    <a:lnTo>
                      <a:pt x="174529" y="23657"/>
                    </a:lnTo>
                    <a:cubicBezTo>
                      <a:pt x="173892" y="24175"/>
                      <a:pt x="173157" y="24413"/>
                      <a:pt x="172432" y="24413"/>
                    </a:cubicBezTo>
                    <a:cubicBezTo>
                      <a:pt x="171398" y="24413"/>
                      <a:pt x="170385" y="23929"/>
                      <a:pt x="169705" y="23079"/>
                    </a:cubicBezTo>
                    <a:cubicBezTo>
                      <a:pt x="169126" y="22307"/>
                      <a:pt x="168836" y="21342"/>
                      <a:pt x="169029" y="20474"/>
                    </a:cubicBezTo>
                    <a:lnTo>
                      <a:pt x="170959" y="6967"/>
                    </a:lnTo>
                    <a:cubicBezTo>
                      <a:pt x="171152" y="5037"/>
                      <a:pt x="169898" y="3301"/>
                      <a:pt x="167968" y="3011"/>
                    </a:cubicBezTo>
                    <a:lnTo>
                      <a:pt x="147322" y="20"/>
                    </a:lnTo>
                    <a:cubicBezTo>
                      <a:pt x="147197" y="7"/>
                      <a:pt x="147073" y="1"/>
                      <a:pt x="1469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8" name="Google Shape;2223;p40"/>
              <p:cNvSpPr/>
              <p:nvPr/>
            </p:nvSpPr>
            <p:spPr>
              <a:xfrm>
                <a:off x="4616640" y="1189440"/>
                <a:ext cx="156600" cy="15660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56600"/>
                  <a:gd name="textAreaBottom" fmla="*/ 156960 h 156600"/>
                </a:gdLst>
                <a:ahLst/>
                <a:cxnLst/>
                <a:rect l="textAreaLeft" t="textAreaTop" r="textAreaRight" b="textAreaBottom"/>
                <a:pathLst>
                  <a:path w="55572" h="55572">
                    <a:moveTo>
                      <a:pt x="27786" y="6947"/>
                    </a:moveTo>
                    <a:cubicBezTo>
                      <a:pt x="39267" y="6947"/>
                      <a:pt x="48625" y="16305"/>
                      <a:pt x="48625" y="27786"/>
                    </a:cubicBezTo>
                    <a:cubicBezTo>
                      <a:pt x="48625" y="39363"/>
                      <a:pt x="39267" y="48625"/>
                      <a:pt x="27786" y="48625"/>
                    </a:cubicBezTo>
                    <a:cubicBezTo>
                      <a:pt x="16305" y="48625"/>
                      <a:pt x="6947" y="39363"/>
                      <a:pt x="6947" y="27786"/>
                    </a:cubicBezTo>
                    <a:cubicBezTo>
                      <a:pt x="6947" y="16305"/>
                      <a:pt x="16305" y="6947"/>
                      <a:pt x="27786" y="6947"/>
                    </a:cubicBezTo>
                    <a:close/>
                    <a:moveTo>
                      <a:pt x="27786" y="0"/>
                    </a:moveTo>
                    <a:cubicBezTo>
                      <a:pt x="12446" y="0"/>
                      <a:pt x="0" y="12446"/>
                      <a:pt x="0" y="27786"/>
                    </a:cubicBezTo>
                    <a:cubicBezTo>
                      <a:pt x="0" y="43126"/>
                      <a:pt x="12446" y="55572"/>
                      <a:pt x="27786" y="55572"/>
                    </a:cubicBezTo>
                    <a:cubicBezTo>
                      <a:pt x="43126" y="55572"/>
                      <a:pt x="55571" y="43126"/>
                      <a:pt x="55571" y="27786"/>
                    </a:cubicBezTo>
                    <a:cubicBezTo>
                      <a:pt x="55571" y="12446"/>
                      <a:pt x="43126" y="97"/>
                      <a:pt x="277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8480" bIns="78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9" name="Google Shape;2224;p40"/>
              <p:cNvSpPr/>
              <p:nvPr/>
            </p:nvSpPr>
            <p:spPr>
              <a:xfrm>
                <a:off x="4563360" y="1504800"/>
                <a:ext cx="19080" cy="2916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29160"/>
                  <a:gd name="textAreaBottom" fmla="*/ 29520 h 29160"/>
                </a:gdLst>
                <a:ahLst/>
                <a:cxnLst/>
                <a:rect l="textAreaLeft" t="textAreaTop" r="textAreaRight" b="textAreaBottom"/>
                <a:pathLst>
                  <a:path w="6947" h="10420">
                    <a:moveTo>
                      <a:pt x="0" y="0"/>
                    </a:moveTo>
                    <a:lnTo>
                      <a:pt x="0" y="10420"/>
                    </a:lnTo>
                    <a:lnTo>
                      <a:pt x="6947" y="10420"/>
                    </a:lnTo>
                    <a:lnTo>
                      <a:pt x="694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0" name="Google Shape;2225;p40"/>
              <p:cNvSpPr/>
              <p:nvPr/>
            </p:nvSpPr>
            <p:spPr>
              <a:xfrm>
                <a:off x="4416480" y="1182960"/>
                <a:ext cx="165960" cy="302040"/>
              </a:xfrm>
              <a:custGeom>
                <a:avLst/>
                <a:gdLst>
                  <a:gd name="textAreaLeft" fmla="*/ 0 w 165960"/>
                  <a:gd name="textAreaRight" fmla="*/ 166320 w 165960"/>
                  <a:gd name="textAreaTop" fmla="*/ 0 h 302040"/>
                  <a:gd name="textAreaBottom" fmla="*/ 302400 h 302040"/>
                </a:gdLst>
                <a:ahLst/>
                <a:cxnLst/>
                <a:rect l="textAreaLeft" t="textAreaTop" r="textAreaRight" b="textAreaBottom"/>
                <a:pathLst>
                  <a:path w="58949" h="107188">
                    <a:moveTo>
                      <a:pt x="29619" y="1"/>
                    </a:moveTo>
                    <a:cubicBezTo>
                      <a:pt x="6851" y="14376"/>
                      <a:pt x="1" y="44381"/>
                      <a:pt x="14376" y="67053"/>
                    </a:cubicBezTo>
                    <a:cubicBezTo>
                      <a:pt x="19875" y="75929"/>
                      <a:pt x="28076" y="82683"/>
                      <a:pt x="37820" y="86445"/>
                    </a:cubicBezTo>
                    <a:cubicBezTo>
                      <a:pt x="46407" y="89725"/>
                      <a:pt x="52002" y="98022"/>
                      <a:pt x="52002" y="107188"/>
                    </a:cubicBezTo>
                    <a:lnTo>
                      <a:pt x="58949" y="107188"/>
                    </a:lnTo>
                    <a:cubicBezTo>
                      <a:pt x="58949" y="95128"/>
                      <a:pt x="51616" y="84323"/>
                      <a:pt x="40328" y="79981"/>
                    </a:cubicBezTo>
                    <a:cubicBezTo>
                      <a:pt x="18910" y="71588"/>
                      <a:pt x="8298" y="47468"/>
                      <a:pt x="16691" y="26050"/>
                    </a:cubicBezTo>
                    <a:cubicBezTo>
                      <a:pt x="19875" y="17753"/>
                      <a:pt x="25760" y="10710"/>
                      <a:pt x="33286" y="5886"/>
                    </a:cubicBezTo>
                    <a:lnTo>
                      <a:pt x="2961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1" name="Google Shape;2226;p40"/>
              <p:cNvSpPr/>
              <p:nvPr/>
            </p:nvSpPr>
            <p:spPr>
              <a:xfrm>
                <a:off x="4759200" y="1436400"/>
                <a:ext cx="68400" cy="1908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24313" h="6948">
                    <a:moveTo>
                      <a:pt x="0" y="1"/>
                    </a:moveTo>
                    <a:lnTo>
                      <a:pt x="0" y="6947"/>
                    </a:lnTo>
                    <a:lnTo>
                      <a:pt x="24313" y="6947"/>
                    </a:lnTo>
                    <a:lnTo>
                      <a:pt x="24313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2" name="Google Shape;2227;p40"/>
              <p:cNvSpPr/>
              <p:nvPr/>
            </p:nvSpPr>
            <p:spPr>
              <a:xfrm>
                <a:off x="4743360" y="1487520"/>
                <a:ext cx="70920" cy="6372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63720"/>
                  <a:gd name="textAreaBottom" fmla="*/ 64080 h 63720"/>
                </a:gdLst>
                <a:ahLst/>
                <a:cxnLst/>
                <a:rect l="textAreaLeft" t="textAreaTop" r="textAreaRight" b="textAreaBottom"/>
                <a:pathLst>
                  <a:path w="25278" h="22674">
                    <a:moveTo>
                      <a:pt x="4438" y="1"/>
                    </a:moveTo>
                    <a:lnTo>
                      <a:pt x="0" y="5307"/>
                    </a:lnTo>
                    <a:lnTo>
                      <a:pt x="20839" y="22673"/>
                    </a:lnTo>
                    <a:lnTo>
                      <a:pt x="25277" y="17367"/>
                    </a:lnTo>
                    <a:lnTo>
                      <a:pt x="443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040" bIns="32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3" name="Google Shape;2228;p40"/>
              <p:cNvSpPr/>
              <p:nvPr/>
            </p:nvSpPr>
            <p:spPr>
              <a:xfrm>
                <a:off x="4700520" y="1514880"/>
                <a:ext cx="19080" cy="6840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6947" h="24313">
                    <a:moveTo>
                      <a:pt x="0" y="1"/>
                    </a:moveTo>
                    <a:lnTo>
                      <a:pt x="0" y="24313"/>
                    </a:lnTo>
                    <a:lnTo>
                      <a:pt x="6947" y="24313"/>
                    </a:lnTo>
                    <a:lnTo>
                      <a:pt x="694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4" name="Google Shape;2229;p40"/>
              <p:cNvSpPr/>
              <p:nvPr/>
            </p:nvSpPr>
            <p:spPr>
              <a:xfrm>
                <a:off x="4286520" y="1221120"/>
                <a:ext cx="82800" cy="38160"/>
              </a:xfrm>
              <a:custGeom>
                <a:avLst/>
                <a:gdLst>
                  <a:gd name="textAreaLeft" fmla="*/ 0 w 82800"/>
                  <a:gd name="textAreaRight" fmla="*/ 83160 w 82800"/>
                  <a:gd name="textAreaTop" fmla="*/ 0 h 38160"/>
                  <a:gd name="textAreaBottom" fmla="*/ 38520 h 38160"/>
                </a:gdLst>
                <a:ahLst/>
                <a:cxnLst/>
                <a:rect l="textAreaLeft" t="textAreaTop" r="textAreaRight" b="textAreaBottom"/>
                <a:pathLst>
                  <a:path w="29427" h="13701">
                    <a:moveTo>
                      <a:pt x="27786" y="1"/>
                    </a:moveTo>
                    <a:lnTo>
                      <a:pt x="1" y="6947"/>
                    </a:lnTo>
                    <a:lnTo>
                      <a:pt x="1641" y="13701"/>
                    </a:lnTo>
                    <a:lnTo>
                      <a:pt x="29426" y="6754"/>
                    </a:lnTo>
                    <a:lnTo>
                      <a:pt x="277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080" bIns="19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2230;p40"/>
              <p:cNvSpPr/>
              <p:nvPr/>
            </p:nvSpPr>
            <p:spPr>
              <a:xfrm>
                <a:off x="4303080" y="1124640"/>
                <a:ext cx="79560" cy="6444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64440"/>
                  <a:gd name="textAreaBottom" fmla="*/ 64800 h 64440"/>
                </a:gdLst>
                <a:ahLst/>
                <a:cxnLst/>
                <a:rect l="textAreaLeft" t="textAreaTop" r="textAreaRight" b="textAreaBottom"/>
                <a:pathLst>
                  <a:path w="28269" h="22963">
                    <a:moveTo>
                      <a:pt x="3956" y="1"/>
                    </a:moveTo>
                    <a:lnTo>
                      <a:pt x="0" y="5596"/>
                    </a:lnTo>
                    <a:lnTo>
                      <a:pt x="24313" y="22962"/>
                    </a:lnTo>
                    <a:lnTo>
                      <a:pt x="28268" y="17367"/>
                    </a:lnTo>
                    <a:lnTo>
                      <a:pt x="395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6" name="Google Shape;2231;p40"/>
              <p:cNvSpPr/>
              <p:nvPr/>
            </p:nvSpPr>
            <p:spPr>
              <a:xfrm>
                <a:off x="4386960" y="1071000"/>
                <a:ext cx="38520" cy="82800"/>
              </a:xfrm>
              <a:custGeom>
                <a:avLst/>
                <a:gdLst>
                  <a:gd name="textAreaLeft" fmla="*/ 0 w 38520"/>
                  <a:gd name="textAreaRight" fmla="*/ 38880 w 38520"/>
                  <a:gd name="textAreaTop" fmla="*/ 0 h 82800"/>
                  <a:gd name="textAreaBottom" fmla="*/ 83160 h 82800"/>
                </a:gdLst>
                <a:ahLst/>
                <a:cxnLst/>
                <a:rect l="textAreaLeft" t="textAreaTop" r="textAreaRight" b="textAreaBottom"/>
                <a:pathLst>
                  <a:path w="13797" h="29523">
                    <a:moveTo>
                      <a:pt x="6754" y="0"/>
                    </a:moveTo>
                    <a:lnTo>
                      <a:pt x="1" y="1737"/>
                    </a:lnTo>
                    <a:lnTo>
                      <a:pt x="7140" y="29522"/>
                    </a:lnTo>
                    <a:lnTo>
                      <a:pt x="13797" y="27786"/>
                    </a:lnTo>
                    <a:lnTo>
                      <a:pt x="6754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400" bIns="41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2579307" y="506757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Analisis</a:t>
            </a:r>
            <a:r>
              <a:rPr lang="en-US" sz="28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 </a:t>
            </a:r>
            <a:r>
              <a:rPr lang="en-US" sz="2800" b="1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Kesalahan</a:t>
            </a:r>
            <a:r>
              <a:rPr lang="en-US" sz="2800" b="1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 (Error Analysis)</a:t>
            </a:r>
            <a:endParaRPr lang="fr-FR" sz="28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A3F850-A7DF-4B39-851B-5F140CD582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" t="2579" r="1356" b="6393"/>
          <a:stretch/>
        </p:blipFill>
        <p:spPr>
          <a:xfrm>
            <a:off x="2361355" y="1199234"/>
            <a:ext cx="5688000" cy="36823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angle 459"/>
          <p:cNvSpPr/>
          <p:nvPr/>
        </p:nvSpPr>
        <p:spPr>
          <a:xfrm>
            <a:off x="525600" y="268741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1" name="Rectangle 460"/>
          <p:cNvSpPr/>
          <p:nvPr/>
        </p:nvSpPr>
        <p:spPr>
          <a:xfrm>
            <a:off x="5048280" y="1905120"/>
            <a:ext cx="347616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9C51DC-980D-4C87-8EC4-4FEBE0D0E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45" y="489600"/>
            <a:ext cx="6469200" cy="4312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angle 459"/>
          <p:cNvSpPr/>
          <p:nvPr/>
        </p:nvSpPr>
        <p:spPr>
          <a:xfrm>
            <a:off x="525600" y="268741"/>
            <a:ext cx="347616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49960-00BD-4FA7-A5BF-975EF0F3B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522150"/>
            <a:ext cx="6932025" cy="4621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5C637D-C7AD-4448-A095-000E99CA20BD}"/>
              </a:ext>
            </a:extLst>
          </p:cNvPr>
          <p:cNvSpPr txBox="1"/>
          <p:nvPr/>
        </p:nvSpPr>
        <p:spPr>
          <a:xfrm>
            <a:off x="1497600" y="210780"/>
            <a:ext cx="457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dk2"/>
                </a:solidFill>
                <a:latin typeface="Fjalla One"/>
              </a:rPr>
              <a:t>Perbandingan</a:t>
            </a:r>
            <a:r>
              <a:rPr lang="en-US" b="1" dirty="0">
                <a:solidFill>
                  <a:schemeClr val="dk2"/>
                </a:solidFill>
                <a:latin typeface="Fjalla One"/>
              </a:rPr>
              <a:t> Model </a:t>
            </a:r>
            <a:r>
              <a:rPr lang="en-US" b="1" dirty="0" err="1">
                <a:solidFill>
                  <a:schemeClr val="dk2"/>
                </a:solidFill>
                <a:latin typeface="Fjalla One"/>
              </a:rPr>
              <a:t>ReLu</a:t>
            </a:r>
            <a:r>
              <a:rPr lang="en-US" b="1" dirty="0">
                <a:solidFill>
                  <a:schemeClr val="dk2"/>
                </a:solidFill>
                <a:latin typeface="Fjalla One"/>
              </a:rPr>
              <a:t> dan Model Sigmoid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18263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A815B5-AA5C-4926-AEF3-9C07D2B5FE8E}"/>
              </a:ext>
            </a:extLst>
          </p:cNvPr>
          <p:cNvGrpSpPr/>
          <p:nvPr/>
        </p:nvGrpSpPr>
        <p:grpSpPr>
          <a:xfrm>
            <a:off x="7091640" y="136800"/>
            <a:ext cx="1051560" cy="1009260"/>
            <a:chOff x="5370840" y="381780"/>
            <a:chExt cx="1678680" cy="1678680"/>
          </a:xfrm>
        </p:grpSpPr>
        <p:grpSp>
          <p:nvGrpSpPr>
            <p:cNvPr id="479" name="Google Shape;2218;p40"/>
            <p:cNvGrpSpPr/>
            <p:nvPr/>
          </p:nvGrpSpPr>
          <p:grpSpPr>
            <a:xfrm>
              <a:off x="5370840" y="381780"/>
              <a:ext cx="1678680" cy="1678680"/>
              <a:chOff x="3732480" y="527040"/>
              <a:chExt cx="1678680" cy="1678680"/>
            </a:xfrm>
          </p:grpSpPr>
          <p:sp>
            <p:nvSpPr>
              <p:cNvPr id="480" name="Google Shape;2219;p40"/>
              <p:cNvSpPr/>
              <p:nvPr/>
            </p:nvSpPr>
            <p:spPr>
              <a:xfrm>
                <a:off x="3732480" y="527040"/>
                <a:ext cx="1678680" cy="1678680"/>
              </a:xfrm>
              <a:prstGeom prst="ellipse">
                <a:avLst/>
              </a:prstGeom>
              <a:solidFill>
                <a:srgbClr val="77C6FC"/>
              </a:solidFill>
              <a:ln w="9525">
                <a:solidFill>
                  <a:srgbClr val="49494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1" name="Google Shape;2220;p40"/>
              <p:cNvSpPr/>
              <p:nvPr/>
            </p:nvSpPr>
            <p:spPr>
              <a:xfrm>
                <a:off x="3956400" y="750960"/>
                <a:ext cx="1230480" cy="12304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494949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82" name="Google Shape;2221;p40"/>
            <p:cNvGrpSpPr/>
            <p:nvPr/>
          </p:nvGrpSpPr>
          <p:grpSpPr>
            <a:xfrm>
              <a:off x="5914440" y="925740"/>
              <a:ext cx="591120" cy="590400"/>
              <a:chOff x="4276440" y="1071000"/>
              <a:chExt cx="591120" cy="590400"/>
            </a:xfrm>
          </p:grpSpPr>
          <p:sp>
            <p:nvSpPr>
              <p:cNvPr id="483" name="Google Shape;2222;p40"/>
              <p:cNvSpPr/>
              <p:nvPr/>
            </p:nvSpPr>
            <p:spPr>
              <a:xfrm>
                <a:off x="4276440" y="1073520"/>
                <a:ext cx="591120" cy="587880"/>
              </a:xfrm>
              <a:custGeom>
                <a:avLst/>
                <a:gdLst>
                  <a:gd name="textAreaLeft" fmla="*/ 0 w 591120"/>
                  <a:gd name="textAreaRight" fmla="*/ 591480 w 591120"/>
                  <a:gd name="textAreaTop" fmla="*/ 0 h 587880"/>
                  <a:gd name="textAreaBottom" fmla="*/ 588240 h 587880"/>
                </a:gdLst>
                <a:ahLst/>
                <a:cxnLst/>
                <a:rect l="textAreaLeft" t="textAreaTop" r="textAreaRight" b="textAreaBottom"/>
                <a:pathLst>
                  <a:path w="209550" h="208413">
                    <a:moveTo>
                      <a:pt x="149830" y="7449"/>
                    </a:moveTo>
                    <a:lnTo>
                      <a:pt x="163530" y="9379"/>
                    </a:lnTo>
                    <a:lnTo>
                      <a:pt x="162179" y="19412"/>
                    </a:lnTo>
                    <a:cubicBezTo>
                      <a:pt x="161311" y="25105"/>
                      <a:pt x="165267" y="30411"/>
                      <a:pt x="170959" y="31279"/>
                    </a:cubicBezTo>
                    <a:cubicBezTo>
                      <a:pt x="171435" y="31345"/>
                      <a:pt x="171909" y="31377"/>
                      <a:pt x="172378" y="31377"/>
                    </a:cubicBezTo>
                    <a:cubicBezTo>
                      <a:pt x="174663" y="31377"/>
                      <a:pt x="176836" y="30614"/>
                      <a:pt x="178677" y="29253"/>
                    </a:cubicBezTo>
                    <a:lnTo>
                      <a:pt x="186878" y="23175"/>
                    </a:lnTo>
                    <a:lnTo>
                      <a:pt x="195175" y="34270"/>
                    </a:lnTo>
                    <a:lnTo>
                      <a:pt x="187071" y="40348"/>
                    </a:lnTo>
                    <a:cubicBezTo>
                      <a:pt x="182440" y="43821"/>
                      <a:pt x="181475" y="50382"/>
                      <a:pt x="184948" y="54916"/>
                    </a:cubicBezTo>
                    <a:cubicBezTo>
                      <a:pt x="186588" y="57135"/>
                      <a:pt x="189097" y="58679"/>
                      <a:pt x="191798" y="59065"/>
                    </a:cubicBezTo>
                    <a:lnTo>
                      <a:pt x="201832" y="60415"/>
                    </a:lnTo>
                    <a:lnTo>
                      <a:pt x="199902" y="74212"/>
                    </a:lnTo>
                    <a:lnTo>
                      <a:pt x="189869" y="72765"/>
                    </a:lnTo>
                    <a:cubicBezTo>
                      <a:pt x="189391" y="72700"/>
                      <a:pt x="188917" y="72668"/>
                      <a:pt x="188447" y="72668"/>
                    </a:cubicBezTo>
                    <a:cubicBezTo>
                      <a:pt x="183318" y="72668"/>
                      <a:pt x="178797" y="76426"/>
                      <a:pt x="178002" y="81641"/>
                    </a:cubicBezTo>
                    <a:cubicBezTo>
                      <a:pt x="177616" y="84342"/>
                      <a:pt x="178388" y="87140"/>
                      <a:pt x="180028" y="89359"/>
                    </a:cubicBezTo>
                    <a:lnTo>
                      <a:pt x="186106" y="97463"/>
                    </a:lnTo>
                    <a:lnTo>
                      <a:pt x="175011" y="105760"/>
                    </a:lnTo>
                    <a:lnTo>
                      <a:pt x="168933" y="97656"/>
                    </a:lnTo>
                    <a:cubicBezTo>
                      <a:pt x="166888" y="94930"/>
                      <a:pt x="163773" y="93507"/>
                      <a:pt x="160632" y="93507"/>
                    </a:cubicBezTo>
                    <a:cubicBezTo>
                      <a:pt x="158437" y="93507"/>
                      <a:pt x="156230" y="94201"/>
                      <a:pt x="154365" y="95630"/>
                    </a:cubicBezTo>
                    <a:cubicBezTo>
                      <a:pt x="152146" y="97270"/>
                      <a:pt x="150698" y="99682"/>
                      <a:pt x="150216" y="102480"/>
                    </a:cubicBezTo>
                    <a:lnTo>
                      <a:pt x="148865" y="112514"/>
                    </a:lnTo>
                    <a:lnTo>
                      <a:pt x="135069" y="110584"/>
                    </a:lnTo>
                    <a:lnTo>
                      <a:pt x="136516" y="100454"/>
                    </a:lnTo>
                    <a:cubicBezTo>
                      <a:pt x="137385" y="94762"/>
                      <a:pt x="133429" y="89552"/>
                      <a:pt x="127737" y="88683"/>
                    </a:cubicBezTo>
                    <a:cubicBezTo>
                      <a:pt x="127260" y="88618"/>
                      <a:pt x="126787" y="88586"/>
                      <a:pt x="126318" y="88586"/>
                    </a:cubicBezTo>
                    <a:cubicBezTo>
                      <a:pt x="124033" y="88586"/>
                      <a:pt x="121860" y="89349"/>
                      <a:pt x="120019" y="90710"/>
                    </a:cubicBezTo>
                    <a:lnTo>
                      <a:pt x="111818" y="96788"/>
                    </a:lnTo>
                    <a:lnTo>
                      <a:pt x="103521" y="85693"/>
                    </a:lnTo>
                    <a:lnTo>
                      <a:pt x="111625" y="79615"/>
                    </a:lnTo>
                    <a:cubicBezTo>
                      <a:pt x="116256" y="76141"/>
                      <a:pt x="117221" y="69581"/>
                      <a:pt x="113747" y="64950"/>
                    </a:cubicBezTo>
                    <a:cubicBezTo>
                      <a:pt x="112107" y="62731"/>
                      <a:pt x="109599" y="61284"/>
                      <a:pt x="106898" y="60898"/>
                    </a:cubicBezTo>
                    <a:lnTo>
                      <a:pt x="96767" y="59451"/>
                    </a:lnTo>
                    <a:lnTo>
                      <a:pt x="98793" y="45751"/>
                    </a:lnTo>
                    <a:lnTo>
                      <a:pt x="108827" y="47198"/>
                    </a:lnTo>
                    <a:cubicBezTo>
                      <a:pt x="109304" y="47263"/>
                      <a:pt x="109779" y="47294"/>
                      <a:pt x="110248" y="47294"/>
                    </a:cubicBezTo>
                    <a:cubicBezTo>
                      <a:pt x="115377" y="47294"/>
                      <a:pt x="119890" y="43537"/>
                      <a:pt x="120597" y="38322"/>
                    </a:cubicBezTo>
                    <a:cubicBezTo>
                      <a:pt x="120983" y="35621"/>
                      <a:pt x="120308" y="32823"/>
                      <a:pt x="118668" y="30604"/>
                    </a:cubicBezTo>
                    <a:lnTo>
                      <a:pt x="112493" y="22500"/>
                    </a:lnTo>
                    <a:lnTo>
                      <a:pt x="123588" y="14106"/>
                    </a:lnTo>
                    <a:lnTo>
                      <a:pt x="129763" y="22307"/>
                    </a:lnTo>
                    <a:cubicBezTo>
                      <a:pt x="131820" y="24993"/>
                      <a:pt x="134928" y="26427"/>
                      <a:pt x="138082" y="26427"/>
                    </a:cubicBezTo>
                    <a:cubicBezTo>
                      <a:pt x="140252" y="26427"/>
                      <a:pt x="142444" y="25748"/>
                      <a:pt x="144331" y="24333"/>
                    </a:cubicBezTo>
                    <a:cubicBezTo>
                      <a:pt x="146550" y="22693"/>
                      <a:pt x="147997" y="20184"/>
                      <a:pt x="148383" y="17483"/>
                    </a:cubicBezTo>
                    <a:lnTo>
                      <a:pt x="149830" y="7449"/>
                    </a:lnTo>
                    <a:close/>
                    <a:moveTo>
                      <a:pt x="45248" y="107690"/>
                    </a:moveTo>
                    <a:cubicBezTo>
                      <a:pt x="48432" y="114540"/>
                      <a:pt x="52870" y="120811"/>
                      <a:pt x="58176" y="126213"/>
                    </a:cubicBezTo>
                    <a:cubicBezTo>
                      <a:pt x="56131" y="131893"/>
                      <a:pt x="50817" y="135433"/>
                      <a:pt x="45127" y="135433"/>
                    </a:cubicBezTo>
                    <a:cubicBezTo>
                      <a:pt x="43568" y="135433"/>
                      <a:pt x="41980" y="135167"/>
                      <a:pt x="40424" y="134607"/>
                    </a:cubicBezTo>
                    <a:cubicBezTo>
                      <a:pt x="33188" y="132002"/>
                      <a:pt x="29426" y="124091"/>
                      <a:pt x="32031" y="116855"/>
                    </a:cubicBezTo>
                    <a:cubicBezTo>
                      <a:pt x="34057" y="111356"/>
                      <a:pt x="39267" y="107690"/>
                      <a:pt x="45152" y="107690"/>
                    </a:cubicBezTo>
                    <a:close/>
                    <a:moveTo>
                      <a:pt x="39845" y="89166"/>
                    </a:moveTo>
                    <a:cubicBezTo>
                      <a:pt x="40328" y="93121"/>
                      <a:pt x="41293" y="97077"/>
                      <a:pt x="42547" y="100936"/>
                    </a:cubicBezTo>
                    <a:cubicBezTo>
                      <a:pt x="31162" y="102287"/>
                      <a:pt x="22962" y="112610"/>
                      <a:pt x="24312" y="124091"/>
                    </a:cubicBezTo>
                    <a:cubicBezTo>
                      <a:pt x="25565" y="134650"/>
                      <a:pt x="34620" y="142471"/>
                      <a:pt x="45011" y="142471"/>
                    </a:cubicBezTo>
                    <a:cubicBezTo>
                      <a:pt x="45822" y="142471"/>
                      <a:pt x="46642" y="142423"/>
                      <a:pt x="47467" y="142325"/>
                    </a:cubicBezTo>
                    <a:cubicBezTo>
                      <a:pt x="54414" y="141457"/>
                      <a:pt x="60395" y="137308"/>
                      <a:pt x="63579" y="131134"/>
                    </a:cubicBezTo>
                    <a:cubicBezTo>
                      <a:pt x="65412" y="132677"/>
                      <a:pt x="67438" y="134125"/>
                      <a:pt x="69464" y="135475"/>
                    </a:cubicBezTo>
                    <a:cubicBezTo>
                      <a:pt x="72744" y="137501"/>
                      <a:pt x="75253" y="140685"/>
                      <a:pt x="76507" y="144351"/>
                    </a:cubicBezTo>
                    <a:lnTo>
                      <a:pt x="69078" y="151780"/>
                    </a:lnTo>
                    <a:lnTo>
                      <a:pt x="61842" y="146763"/>
                    </a:lnTo>
                    <a:cubicBezTo>
                      <a:pt x="60637" y="145960"/>
                      <a:pt x="59266" y="145571"/>
                      <a:pt x="57911" y="145571"/>
                    </a:cubicBezTo>
                    <a:cubicBezTo>
                      <a:pt x="55689" y="145571"/>
                      <a:pt x="53513" y="146618"/>
                      <a:pt x="52195" y="148596"/>
                    </a:cubicBezTo>
                    <a:cubicBezTo>
                      <a:pt x="51616" y="149368"/>
                      <a:pt x="51326" y="150236"/>
                      <a:pt x="51133" y="151105"/>
                    </a:cubicBezTo>
                    <a:lnTo>
                      <a:pt x="49300" y="159788"/>
                    </a:lnTo>
                    <a:lnTo>
                      <a:pt x="41003" y="159788"/>
                    </a:lnTo>
                    <a:lnTo>
                      <a:pt x="39170" y="151105"/>
                    </a:lnTo>
                    <a:cubicBezTo>
                      <a:pt x="38495" y="147815"/>
                      <a:pt x="35608" y="145558"/>
                      <a:pt x="32379" y="145558"/>
                    </a:cubicBezTo>
                    <a:cubicBezTo>
                      <a:pt x="31914" y="145558"/>
                      <a:pt x="31443" y="145605"/>
                      <a:pt x="30969" y="145702"/>
                    </a:cubicBezTo>
                    <a:cubicBezTo>
                      <a:pt x="30101" y="145895"/>
                      <a:pt x="29233" y="146281"/>
                      <a:pt x="28461" y="146860"/>
                    </a:cubicBezTo>
                    <a:lnTo>
                      <a:pt x="21225" y="151780"/>
                    </a:lnTo>
                    <a:lnTo>
                      <a:pt x="14954" y="145509"/>
                    </a:lnTo>
                    <a:lnTo>
                      <a:pt x="19874" y="138273"/>
                    </a:lnTo>
                    <a:cubicBezTo>
                      <a:pt x="22093" y="135089"/>
                      <a:pt x="21322" y="130748"/>
                      <a:pt x="18138" y="128625"/>
                    </a:cubicBezTo>
                    <a:cubicBezTo>
                      <a:pt x="17366" y="128046"/>
                      <a:pt x="16498" y="127661"/>
                      <a:pt x="15629" y="127468"/>
                    </a:cubicBezTo>
                    <a:lnTo>
                      <a:pt x="6946" y="125731"/>
                    </a:lnTo>
                    <a:lnTo>
                      <a:pt x="6946" y="117434"/>
                    </a:lnTo>
                    <a:lnTo>
                      <a:pt x="15629" y="115601"/>
                    </a:lnTo>
                    <a:cubicBezTo>
                      <a:pt x="19392" y="114829"/>
                      <a:pt x="21708" y="111163"/>
                      <a:pt x="20936" y="107400"/>
                    </a:cubicBezTo>
                    <a:cubicBezTo>
                      <a:pt x="20743" y="106532"/>
                      <a:pt x="20453" y="105664"/>
                      <a:pt x="19874" y="104892"/>
                    </a:cubicBezTo>
                    <a:lnTo>
                      <a:pt x="14954" y="97656"/>
                    </a:lnTo>
                    <a:lnTo>
                      <a:pt x="21225" y="91385"/>
                    </a:lnTo>
                    <a:lnTo>
                      <a:pt x="28461" y="96305"/>
                    </a:lnTo>
                    <a:cubicBezTo>
                      <a:pt x="29670" y="97148"/>
                      <a:pt x="31045" y="97545"/>
                      <a:pt x="32403" y="97545"/>
                    </a:cubicBezTo>
                    <a:cubicBezTo>
                      <a:pt x="34621" y="97545"/>
                      <a:pt x="36792" y="96484"/>
                      <a:pt x="38109" y="94569"/>
                    </a:cubicBezTo>
                    <a:cubicBezTo>
                      <a:pt x="38688" y="93797"/>
                      <a:pt x="38977" y="92929"/>
                      <a:pt x="39170" y="92060"/>
                    </a:cubicBezTo>
                    <a:lnTo>
                      <a:pt x="39845" y="89166"/>
                    </a:lnTo>
                    <a:close/>
                    <a:moveTo>
                      <a:pt x="118957" y="177154"/>
                    </a:moveTo>
                    <a:lnTo>
                      <a:pt x="118957" y="184100"/>
                    </a:lnTo>
                    <a:lnTo>
                      <a:pt x="91172" y="184100"/>
                    </a:lnTo>
                    <a:lnTo>
                      <a:pt x="91172" y="177154"/>
                    </a:lnTo>
                    <a:close/>
                    <a:moveTo>
                      <a:pt x="118957" y="191047"/>
                    </a:moveTo>
                    <a:lnTo>
                      <a:pt x="118957" y="194520"/>
                    </a:lnTo>
                    <a:cubicBezTo>
                      <a:pt x="118957" y="198282"/>
                      <a:pt x="115870" y="201466"/>
                      <a:pt x="112011" y="201466"/>
                    </a:cubicBezTo>
                    <a:lnTo>
                      <a:pt x="98118" y="201466"/>
                    </a:lnTo>
                    <a:cubicBezTo>
                      <a:pt x="94355" y="201466"/>
                      <a:pt x="91172" y="198282"/>
                      <a:pt x="91172" y="194520"/>
                    </a:cubicBezTo>
                    <a:lnTo>
                      <a:pt x="91172" y="191047"/>
                    </a:lnTo>
                    <a:close/>
                    <a:moveTo>
                      <a:pt x="146950" y="1"/>
                    </a:moveTo>
                    <a:cubicBezTo>
                      <a:pt x="145260" y="1"/>
                      <a:pt x="143732" y="1213"/>
                      <a:pt x="143463" y="3011"/>
                    </a:cubicBezTo>
                    <a:lnTo>
                      <a:pt x="141533" y="16518"/>
                    </a:lnTo>
                    <a:cubicBezTo>
                      <a:pt x="141272" y="18262"/>
                      <a:pt x="139828" y="19454"/>
                      <a:pt x="138129" y="19454"/>
                    </a:cubicBezTo>
                    <a:cubicBezTo>
                      <a:pt x="137948" y="19454"/>
                      <a:pt x="137763" y="19440"/>
                      <a:pt x="137577" y="19412"/>
                    </a:cubicBezTo>
                    <a:cubicBezTo>
                      <a:pt x="136709" y="19316"/>
                      <a:pt x="135841" y="18833"/>
                      <a:pt x="135262" y="18062"/>
                    </a:cubicBezTo>
                    <a:lnTo>
                      <a:pt x="127061" y="7160"/>
                    </a:lnTo>
                    <a:cubicBezTo>
                      <a:pt x="126437" y="6251"/>
                      <a:pt x="125411" y="5777"/>
                      <a:pt x="124357" y="5777"/>
                    </a:cubicBezTo>
                    <a:cubicBezTo>
                      <a:pt x="123621" y="5777"/>
                      <a:pt x="122872" y="6008"/>
                      <a:pt x="122238" y="6484"/>
                    </a:cubicBezTo>
                    <a:lnTo>
                      <a:pt x="111818" y="14299"/>
                    </a:lnTo>
                    <a:cubicBezTo>
                      <a:pt x="109454" y="14058"/>
                      <a:pt x="107090" y="13937"/>
                      <a:pt x="104727" y="13937"/>
                    </a:cubicBezTo>
                    <a:cubicBezTo>
                      <a:pt x="102363" y="13937"/>
                      <a:pt x="99999" y="14058"/>
                      <a:pt x="97636" y="14299"/>
                    </a:cubicBezTo>
                    <a:cubicBezTo>
                      <a:pt x="66666" y="17869"/>
                      <a:pt x="42450" y="42471"/>
                      <a:pt x="39459" y="73440"/>
                    </a:cubicBezTo>
                    <a:cubicBezTo>
                      <a:pt x="39363" y="74501"/>
                      <a:pt x="39267" y="75466"/>
                      <a:pt x="39267" y="76431"/>
                    </a:cubicBezTo>
                    <a:lnTo>
                      <a:pt x="38205" y="76431"/>
                    </a:lnTo>
                    <a:cubicBezTo>
                      <a:pt x="36565" y="76431"/>
                      <a:pt x="35118" y="77589"/>
                      <a:pt x="34829" y="79229"/>
                    </a:cubicBezTo>
                    <a:lnTo>
                      <a:pt x="32417" y="90613"/>
                    </a:lnTo>
                    <a:lnTo>
                      <a:pt x="22769" y="83956"/>
                    </a:lnTo>
                    <a:cubicBezTo>
                      <a:pt x="22185" y="83539"/>
                      <a:pt x="21511" y="83338"/>
                      <a:pt x="20833" y="83338"/>
                    </a:cubicBezTo>
                    <a:cubicBezTo>
                      <a:pt x="19942" y="83338"/>
                      <a:pt x="19043" y="83685"/>
                      <a:pt x="18331" y="84342"/>
                    </a:cubicBezTo>
                    <a:lnTo>
                      <a:pt x="7911" y="94762"/>
                    </a:lnTo>
                    <a:cubicBezTo>
                      <a:pt x="6753" y="96016"/>
                      <a:pt x="6560" y="97849"/>
                      <a:pt x="7525" y="99200"/>
                    </a:cubicBezTo>
                    <a:lnTo>
                      <a:pt x="14182" y="108847"/>
                    </a:lnTo>
                    <a:lnTo>
                      <a:pt x="2701" y="111259"/>
                    </a:lnTo>
                    <a:cubicBezTo>
                      <a:pt x="1158" y="111549"/>
                      <a:pt x="0" y="112996"/>
                      <a:pt x="0" y="114636"/>
                    </a:cubicBezTo>
                    <a:lnTo>
                      <a:pt x="0" y="128529"/>
                    </a:lnTo>
                    <a:cubicBezTo>
                      <a:pt x="0" y="130169"/>
                      <a:pt x="1158" y="131616"/>
                      <a:pt x="2798" y="131906"/>
                    </a:cubicBezTo>
                    <a:lnTo>
                      <a:pt x="14182" y="134318"/>
                    </a:lnTo>
                    <a:lnTo>
                      <a:pt x="7622" y="143869"/>
                    </a:lnTo>
                    <a:cubicBezTo>
                      <a:pt x="6657" y="145316"/>
                      <a:pt x="6753" y="147149"/>
                      <a:pt x="8008" y="148307"/>
                    </a:cubicBezTo>
                    <a:lnTo>
                      <a:pt x="18427" y="158726"/>
                    </a:lnTo>
                    <a:cubicBezTo>
                      <a:pt x="19085" y="159384"/>
                      <a:pt x="19960" y="159730"/>
                      <a:pt x="20858" y="159730"/>
                    </a:cubicBezTo>
                    <a:cubicBezTo>
                      <a:pt x="21542" y="159730"/>
                      <a:pt x="22240" y="159529"/>
                      <a:pt x="22865" y="159112"/>
                    </a:cubicBezTo>
                    <a:lnTo>
                      <a:pt x="32417" y="152552"/>
                    </a:lnTo>
                    <a:lnTo>
                      <a:pt x="34829" y="163936"/>
                    </a:lnTo>
                    <a:cubicBezTo>
                      <a:pt x="35118" y="165576"/>
                      <a:pt x="36565" y="166734"/>
                      <a:pt x="38205" y="166734"/>
                    </a:cubicBezTo>
                    <a:lnTo>
                      <a:pt x="52098" y="166734"/>
                    </a:lnTo>
                    <a:cubicBezTo>
                      <a:pt x="53738" y="166734"/>
                      <a:pt x="55185" y="165576"/>
                      <a:pt x="55475" y="163936"/>
                    </a:cubicBezTo>
                    <a:lnTo>
                      <a:pt x="57887" y="152552"/>
                    </a:lnTo>
                    <a:lnTo>
                      <a:pt x="67535" y="159112"/>
                    </a:lnTo>
                    <a:cubicBezTo>
                      <a:pt x="68118" y="159529"/>
                      <a:pt x="68792" y="159730"/>
                      <a:pt x="69463" y="159730"/>
                    </a:cubicBezTo>
                    <a:cubicBezTo>
                      <a:pt x="70344" y="159730"/>
                      <a:pt x="71219" y="159384"/>
                      <a:pt x="71876" y="158726"/>
                    </a:cubicBezTo>
                    <a:lnTo>
                      <a:pt x="77279" y="153324"/>
                    </a:lnTo>
                    <a:lnTo>
                      <a:pt x="77279" y="163261"/>
                    </a:lnTo>
                    <a:cubicBezTo>
                      <a:pt x="77375" y="168181"/>
                      <a:pt x="79980" y="172716"/>
                      <a:pt x="84225" y="175224"/>
                    </a:cubicBezTo>
                    <a:lnTo>
                      <a:pt x="84225" y="194520"/>
                    </a:lnTo>
                    <a:cubicBezTo>
                      <a:pt x="84225" y="202142"/>
                      <a:pt x="90496" y="208413"/>
                      <a:pt x="98118" y="208413"/>
                    </a:cubicBezTo>
                    <a:lnTo>
                      <a:pt x="112011" y="208413"/>
                    </a:lnTo>
                    <a:cubicBezTo>
                      <a:pt x="119729" y="208413"/>
                      <a:pt x="125904" y="202142"/>
                      <a:pt x="125904" y="194520"/>
                    </a:cubicBezTo>
                    <a:lnTo>
                      <a:pt x="125904" y="175224"/>
                    </a:lnTo>
                    <a:cubicBezTo>
                      <a:pt x="130245" y="172716"/>
                      <a:pt x="132850" y="168181"/>
                      <a:pt x="132850" y="163261"/>
                    </a:cubicBezTo>
                    <a:lnTo>
                      <a:pt x="132850" y="149465"/>
                    </a:lnTo>
                    <a:cubicBezTo>
                      <a:pt x="132947" y="143676"/>
                      <a:pt x="136034" y="138370"/>
                      <a:pt x="140954" y="135282"/>
                    </a:cubicBezTo>
                    <a:cubicBezTo>
                      <a:pt x="143752" y="133449"/>
                      <a:pt x="146550" y="131327"/>
                      <a:pt x="149058" y="129108"/>
                    </a:cubicBezTo>
                    <a:lnTo>
                      <a:pt x="144427" y="123898"/>
                    </a:lnTo>
                    <a:cubicBezTo>
                      <a:pt x="142208" y="125924"/>
                      <a:pt x="139700" y="127854"/>
                      <a:pt x="137095" y="129494"/>
                    </a:cubicBezTo>
                    <a:cubicBezTo>
                      <a:pt x="130245" y="133835"/>
                      <a:pt x="126000" y="141360"/>
                      <a:pt x="125904" y="149465"/>
                    </a:cubicBezTo>
                    <a:lnTo>
                      <a:pt x="125904" y="163261"/>
                    </a:lnTo>
                    <a:cubicBezTo>
                      <a:pt x="125904" y="167024"/>
                      <a:pt x="122816" y="170207"/>
                      <a:pt x="118957" y="170207"/>
                    </a:cubicBezTo>
                    <a:lnTo>
                      <a:pt x="91172" y="170207"/>
                    </a:lnTo>
                    <a:cubicBezTo>
                      <a:pt x="87409" y="170207"/>
                      <a:pt x="84225" y="167024"/>
                      <a:pt x="84225" y="163261"/>
                    </a:cubicBezTo>
                    <a:lnTo>
                      <a:pt x="84225" y="149175"/>
                    </a:lnTo>
                    <a:cubicBezTo>
                      <a:pt x="84225" y="141167"/>
                      <a:pt x="79980" y="133835"/>
                      <a:pt x="73227" y="129590"/>
                    </a:cubicBezTo>
                    <a:cubicBezTo>
                      <a:pt x="45731" y="112321"/>
                      <a:pt x="37433" y="75948"/>
                      <a:pt x="54703" y="48452"/>
                    </a:cubicBezTo>
                    <a:cubicBezTo>
                      <a:pt x="65412" y="31376"/>
                      <a:pt x="84225" y="20956"/>
                      <a:pt x="104389" y="20860"/>
                    </a:cubicBezTo>
                    <a:lnTo>
                      <a:pt x="104389" y="20860"/>
                    </a:lnTo>
                    <a:lnTo>
                      <a:pt x="104196" y="21245"/>
                    </a:lnTo>
                    <a:cubicBezTo>
                      <a:pt x="104100" y="22210"/>
                      <a:pt x="104293" y="23079"/>
                      <a:pt x="104871" y="23850"/>
                    </a:cubicBezTo>
                    <a:lnTo>
                      <a:pt x="113072" y="34752"/>
                    </a:lnTo>
                    <a:cubicBezTo>
                      <a:pt x="113940" y="35910"/>
                      <a:pt x="114037" y="37454"/>
                      <a:pt x="113265" y="38611"/>
                    </a:cubicBezTo>
                    <a:cubicBezTo>
                      <a:pt x="112694" y="39672"/>
                      <a:pt x="111572" y="40318"/>
                      <a:pt x="110423" y="40318"/>
                    </a:cubicBezTo>
                    <a:cubicBezTo>
                      <a:pt x="110212" y="40318"/>
                      <a:pt x="110001" y="40296"/>
                      <a:pt x="109792" y="40252"/>
                    </a:cubicBezTo>
                    <a:lnTo>
                      <a:pt x="96285" y="38322"/>
                    </a:lnTo>
                    <a:cubicBezTo>
                      <a:pt x="96154" y="38309"/>
                      <a:pt x="96024" y="38302"/>
                      <a:pt x="95895" y="38302"/>
                    </a:cubicBezTo>
                    <a:cubicBezTo>
                      <a:pt x="94126" y="38302"/>
                      <a:pt x="92599" y="39514"/>
                      <a:pt x="92329" y="41313"/>
                    </a:cubicBezTo>
                    <a:lnTo>
                      <a:pt x="89435" y="61959"/>
                    </a:lnTo>
                    <a:cubicBezTo>
                      <a:pt x="89146" y="63792"/>
                      <a:pt x="90496" y="65625"/>
                      <a:pt x="92329" y="65915"/>
                    </a:cubicBezTo>
                    <a:lnTo>
                      <a:pt x="105836" y="67844"/>
                    </a:lnTo>
                    <a:cubicBezTo>
                      <a:pt x="107766" y="68037"/>
                      <a:pt x="109117" y="69870"/>
                      <a:pt x="108827" y="71703"/>
                    </a:cubicBezTo>
                    <a:cubicBezTo>
                      <a:pt x="108731" y="72668"/>
                      <a:pt x="108248" y="73440"/>
                      <a:pt x="107476" y="74019"/>
                    </a:cubicBezTo>
                    <a:lnTo>
                      <a:pt x="96574" y="82219"/>
                    </a:lnTo>
                    <a:cubicBezTo>
                      <a:pt x="95031" y="83377"/>
                      <a:pt x="94741" y="85500"/>
                      <a:pt x="95899" y="87043"/>
                    </a:cubicBezTo>
                    <a:lnTo>
                      <a:pt x="108345" y="103734"/>
                    </a:lnTo>
                    <a:cubicBezTo>
                      <a:pt x="109026" y="104643"/>
                      <a:pt x="110076" y="105117"/>
                      <a:pt x="111139" y="105117"/>
                    </a:cubicBezTo>
                    <a:cubicBezTo>
                      <a:pt x="111881" y="105117"/>
                      <a:pt x="112630" y="104886"/>
                      <a:pt x="113265" y="104409"/>
                    </a:cubicBezTo>
                    <a:lnTo>
                      <a:pt x="124167" y="96209"/>
                    </a:lnTo>
                    <a:cubicBezTo>
                      <a:pt x="124776" y="95752"/>
                      <a:pt x="125475" y="95536"/>
                      <a:pt x="126169" y="95536"/>
                    </a:cubicBezTo>
                    <a:cubicBezTo>
                      <a:pt x="127235" y="95536"/>
                      <a:pt x="128290" y="96046"/>
                      <a:pt x="128991" y="96981"/>
                    </a:cubicBezTo>
                    <a:cubicBezTo>
                      <a:pt x="129570" y="97656"/>
                      <a:pt x="129763" y="98621"/>
                      <a:pt x="129666" y="99489"/>
                    </a:cubicBezTo>
                    <a:lnTo>
                      <a:pt x="127737" y="112996"/>
                    </a:lnTo>
                    <a:cubicBezTo>
                      <a:pt x="127447" y="114925"/>
                      <a:pt x="128798" y="116662"/>
                      <a:pt x="130631" y="116952"/>
                    </a:cubicBezTo>
                    <a:lnTo>
                      <a:pt x="151277" y="119942"/>
                    </a:lnTo>
                    <a:lnTo>
                      <a:pt x="151760" y="119942"/>
                    </a:lnTo>
                    <a:cubicBezTo>
                      <a:pt x="153496" y="119942"/>
                      <a:pt x="154944" y="118688"/>
                      <a:pt x="155233" y="116952"/>
                    </a:cubicBezTo>
                    <a:lnTo>
                      <a:pt x="157163" y="103445"/>
                    </a:lnTo>
                    <a:cubicBezTo>
                      <a:pt x="157432" y="101646"/>
                      <a:pt x="158959" y="100434"/>
                      <a:pt x="160728" y="100434"/>
                    </a:cubicBezTo>
                    <a:cubicBezTo>
                      <a:pt x="160857" y="100434"/>
                      <a:pt x="160987" y="100441"/>
                      <a:pt x="161118" y="100454"/>
                    </a:cubicBezTo>
                    <a:cubicBezTo>
                      <a:pt x="161986" y="100647"/>
                      <a:pt x="162855" y="101129"/>
                      <a:pt x="163337" y="101804"/>
                    </a:cubicBezTo>
                    <a:lnTo>
                      <a:pt x="171538" y="112803"/>
                    </a:lnTo>
                    <a:cubicBezTo>
                      <a:pt x="172232" y="113671"/>
                      <a:pt x="173309" y="114158"/>
                      <a:pt x="174393" y="114158"/>
                    </a:cubicBezTo>
                    <a:cubicBezTo>
                      <a:pt x="175115" y="114158"/>
                      <a:pt x="175841" y="113941"/>
                      <a:pt x="176458" y="113478"/>
                    </a:cubicBezTo>
                    <a:lnTo>
                      <a:pt x="193052" y="100936"/>
                    </a:lnTo>
                    <a:cubicBezTo>
                      <a:pt x="194596" y="99778"/>
                      <a:pt x="194982" y="97656"/>
                      <a:pt x="193824" y="96112"/>
                    </a:cubicBezTo>
                    <a:lnTo>
                      <a:pt x="185623" y="85210"/>
                    </a:lnTo>
                    <a:cubicBezTo>
                      <a:pt x="184755" y="84053"/>
                      <a:pt x="184659" y="82509"/>
                      <a:pt x="185431" y="81351"/>
                    </a:cubicBezTo>
                    <a:cubicBezTo>
                      <a:pt x="186029" y="80239"/>
                      <a:pt x="187159" y="79582"/>
                      <a:pt x="188417" y="79582"/>
                    </a:cubicBezTo>
                    <a:cubicBezTo>
                      <a:pt x="188577" y="79582"/>
                      <a:pt x="188740" y="79593"/>
                      <a:pt x="188904" y="79615"/>
                    </a:cubicBezTo>
                    <a:lnTo>
                      <a:pt x="202411" y="81544"/>
                    </a:lnTo>
                    <a:cubicBezTo>
                      <a:pt x="202587" y="81572"/>
                      <a:pt x="202764" y="81586"/>
                      <a:pt x="202939" y="81586"/>
                    </a:cubicBezTo>
                    <a:cubicBezTo>
                      <a:pt x="204582" y="81586"/>
                      <a:pt x="206095" y="80393"/>
                      <a:pt x="206270" y="78650"/>
                    </a:cubicBezTo>
                    <a:lnTo>
                      <a:pt x="209261" y="58004"/>
                    </a:lnTo>
                    <a:cubicBezTo>
                      <a:pt x="209550" y="56074"/>
                      <a:pt x="208199" y="54337"/>
                      <a:pt x="206270" y="54048"/>
                    </a:cubicBezTo>
                    <a:lnTo>
                      <a:pt x="192763" y="52118"/>
                    </a:lnTo>
                    <a:cubicBezTo>
                      <a:pt x="190930" y="51829"/>
                      <a:pt x="189579" y="50092"/>
                      <a:pt x="189869" y="48259"/>
                    </a:cubicBezTo>
                    <a:cubicBezTo>
                      <a:pt x="189965" y="47294"/>
                      <a:pt x="190447" y="46523"/>
                      <a:pt x="191219" y="45944"/>
                    </a:cubicBezTo>
                    <a:lnTo>
                      <a:pt x="202121" y="37743"/>
                    </a:lnTo>
                    <a:cubicBezTo>
                      <a:pt x="203665" y="36585"/>
                      <a:pt x="203954" y="34366"/>
                      <a:pt x="202797" y="32919"/>
                    </a:cubicBezTo>
                    <a:lnTo>
                      <a:pt x="190351" y="16229"/>
                    </a:lnTo>
                    <a:cubicBezTo>
                      <a:pt x="189669" y="15320"/>
                      <a:pt x="188620" y="14846"/>
                      <a:pt x="187557" y="14846"/>
                    </a:cubicBezTo>
                    <a:cubicBezTo>
                      <a:pt x="186814" y="14846"/>
                      <a:pt x="186065" y="15077"/>
                      <a:pt x="185431" y="15553"/>
                    </a:cubicBezTo>
                    <a:lnTo>
                      <a:pt x="174529" y="23657"/>
                    </a:lnTo>
                    <a:cubicBezTo>
                      <a:pt x="173892" y="24175"/>
                      <a:pt x="173157" y="24413"/>
                      <a:pt x="172432" y="24413"/>
                    </a:cubicBezTo>
                    <a:cubicBezTo>
                      <a:pt x="171398" y="24413"/>
                      <a:pt x="170385" y="23929"/>
                      <a:pt x="169705" y="23079"/>
                    </a:cubicBezTo>
                    <a:cubicBezTo>
                      <a:pt x="169126" y="22307"/>
                      <a:pt x="168836" y="21342"/>
                      <a:pt x="169029" y="20474"/>
                    </a:cubicBezTo>
                    <a:lnTo>
                      <a:pt x="170959" y="6967"/>
                    </a:lnTo>
                    <a:cubicBezTo>
                      <a:pt x="171152" y="5037"/>
                      <a:pt x="169898" y="3301"/>
                      <a:pt x="167968" y="3011"/>
                    </a:cubicBezTo>
                    <a:lnTo>
                      <a:pt x="147322" y="20"/>
                    </a:lnTo>
                    <a:cubicBezTo>
                      <a:pt x="147197" y="7"/>
                      <a:pt x="147073" y="1"/>
                      <a:pt x="1469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4" name="Google Shape;2223;p40"/>
              <p:cNvSpPr/>
              <p:nvPr/>
            </p:nvSpPr>
            <p:spPr>
              <a:xfrm>
                <a:off x="4616640" y="1189440"/>
                <a:ext cx="156600" cy="156600"/>
              </a:xfrm>
              <a:custGeom>
                <a:avLst/>
                <a:gdLst>
                  <a:gd name="textAreaLeft" fmla="*/ 0 w 156600"/>
                  <a:gd name="textAreaRight" fmla="*/ 156960 w 156600"/>
                  <a:gd name="textAreaTop" fmla="*/ 0 h 156600"/>
                  <a:gd name="textAreaBottom" fmla="*/ 156960 h 156600"/>
                </a:gdLst>
                <a:ahLst/>
                <a:cxnLst/>
                <a:rect l="textAreaLeft" t="textAreaTop" r="textAreaRight" b="textAreaBottom"/>
                <a:pathLst>
                  <a:path w="55572" h="55572">
                    <a:moveTo>
                      <a:pt x="27786" y="6947"/>
                    </a:moveTo>
                    <a:cubicBezTo>
                      <a:pt x="39267" y="6947"/>
                      <a:pt x="48625" y="16305"/>
                      <a:pt x="48625" y="27786"/>
                    </a:cubicBezTo>
                    <a:cubicBezTo>
                      <a:pt x="48625" y="39363"/>
                      <a:pt x="39267" y="48625"/>
                      <a:pt x="27786" y="48625"/>
                    </a:cubicBezTo>
                    <a:cubicBezTo>
                      <a:pt x="16305" y="48625"/>
                      <a:pt x="6947" y="39363"/>
                      <a:pt x="6947" y="27786"/>
                    </a:cubicBezTo>
                    <a:cubicBezTo>
                      <a:pt x="6947" y="16305"/>
                      <a:pt x="16305" y="6947"/>
                      <a:pt x="27786" y="6947"/>
                    </a:cubicBezTo>
                    <a:close/>
                    <a:moveTo>
                      <a:pt x="27786" y="0"/>
                    </a:moveTo>
                    <a:cubicBezTo>
                      <a:pt x="12446" y="0"/>
                      <a:pt x="0" y="12446"/>
                      <a:pt x="0" y="27786"/>
                    </a:cubicBezTo>
                    <a:cubicBezTo>
                      <a:pt x="0" y="43126"/>
                      <a:pt x="12446" y="55572"/>
                      <a:pt x="27786" y="55572"/>
                    </a:cubicBezTo>
                    <a:cubicBezTo>
                      <a:pt x="43126" y="55572"/>
                      <a:pt x="55571" y="43126"/>
                      <a:pt x="55571" y="27786"/>
                    </a:cubicBezTo>
                    <a:cubicBezTo>
                      <a:pt x="55571" y="12446"/>
                      <a:pt x="43126" y="97"/>
                      <a:pt x="277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8480" bIns="78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5" name="Google Shape;2224;p40"/>
              <p:cNvSpPr/>
              <p:nvPr/>
            </p:nvSpPr>
            <p:spPr>
              <a:xfrm>
                <a:off x="4563360" y="1504800"/>
                <a:ext cx="19080" cy="2916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29160"/>
                  <a:gd name="textAreaBottom" fmla="*/ 29520 h 29160"/>
                </a:gdLst>
                <a:ahLst/>
                <a:cxnLst/>
                <a:rect l="textAreaLeft" t="textAreaTop" r="textAreaRight" b="textAreaBottom"/>
                <a:pathLst>
                  <a:path w="6947" h="10420">
                    <a:moveTo>
                      <a:pt x="0" y="0"/>
                    </a:moveTo>
                    <a:lnTo>
                      <a:pt x="0" y="10420"/>
                    </a:lnTo>
                    <a:lnTo>
                      <a:pt x="6947" y="10420"/>
                    </a:lnTo>
                    <a:lnTo>
                      <a:pt x="6947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4760" bIns="14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6" name="Google Shape;2225;p40"/>
              <p:cNvSpPr/>
              <p:nvPr/>
            </p:nvSpPr>
            <p:spPr>
              <a:xfrm>
                <a:off x="4416480" y="1182960"/>
                <a:ext cx="165960" cy="302040"/>
              </a:xfrm>
              <a:custGeom>
                <a:avLst/>
                <a:gdLst>
                  <a:gd name="textAreaLeft" fmla="*/ 0 w 165960"/>
                  <a:gd name="textAreaRight" fmla="*/ 166320 w 165960"/>
                  <a:gd name="textAreaTop" fmla="*/ 0 h 302040"/>
                  <a:gd name="textAreaBottom" fmla="*/ 302400 h 302040"/>
                </a:gdLst>
                <a:ahLst/>
                <a:cxnLst/>
                <a:rect l="textAreaLeft" t="textAreaTop" r="textAreaRight" b="textAreaBottom"/>
                <a:pathLst>
                  <a:path w="58949" h="107188">
                    <a:moveTo>
                      <a:pt x="29619" y="1"/>
                    </a:moveTo>
                    <a:cubicBezTo>
                      <a:pt x="6851" y="14376"/>
                      <a:pt x="1" y="44381"/>
                      <a:pt x="14376" y="67053"/>
                    </a:cubicBezTo>
                    <a:cubicBezTo>
                      <a:pt x="19875" y="75929"/>
                      <a:pt x="28076" y="82683"/>
                      <a:pt x="37820" y="86445"/>
                    </a:cubicBezTo>
                    <a:cubicBezTo>
                      <a:pt x="46407" y="89725"/>
                      <a:pt x="52002" y="98022"/>
                      <a:pt x="52002" y="107188"/>
                    </a:cubicBezTo>
                    <a:lnTo>
                      <a:pt x="58949" y="107188"/>
                    </a:lnTo>
                    <a:cubicBezTo>
                      <a:pt x="58949" y="95128"/>
                      <a:pt x="51616" y="84323"/>
                      <a:pt x="40328" y="79981"/>
                    </a:cubicBezTo>
                    <a:cubicBezTo>
                      <a:pt x="18910" y="71588"/>
                      <a:pt x="8298" y="47468"/>
                      <a:pt x="16691" y="26050"/>
                    </a:cubicBezTo>
                    <a:cubicBezTo>
                      <a:pt x="19875" y="17753"/>
                      <a:pt x="25760" y="10710"/>
                      <a:pt x="33286" y="5886"/>
                    </a:cubicBezTo>
                    <a:lnTo>
                      <a:pt x="29619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7" name="Google Shape;2226;p40"/>
              <p:cNvSpPr/>
              <p:nvPr/>
            </p:nvSpPr>
            <p:spPr>
              <a:xfrm>
                <a:off x="4759200" y="1436400"/>
                <a:ext cx="68400" cy="1908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19080"/>
                  <a:gd name="textAreaBottom" fmla="*/ 19440 h 19080"/>
                </a:gdLst>
                <a:ahLst/>
                <a:cxnLst/>
                <a:rect l="textAreaLeft" t="textAreaTop" r="textAreaRight" b="textAreaBottom"/>
                <a:pathLst>
                  <a:path w="24313" h="6948">
                    <a:moveTo>
                      <a:pt x="0" y="1"/>
                    </a:moveTo>
                    <a:lnTo>
                      <a:pt x="0" y="6947"/>
                    </a:lnTo>
                    <a:lnTo>
                      <a:pt x="24313" y="6947"/>
                    </a:lnTo>
                    <a:lnTo>
                      <a:pt x="24313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8" name="Google Shape;2227;p40"/>
              <p:cNvSpPr/>
              <p:nvPr/>
            </p:nvSpPr>
            <p:spPr>
              <a:xfrm>
                <a:off x="4743360" y="1487520"/>
                <a:ext cx="70920" cy="63720"/>
              </a:xfrm>
              <a:custGeom>
                <a:avLst/>
                <a:gdLst>
                  <a:gd name="textAreaLeft" fmla="*/ 0 w 70920"/>
                  <a:gd name="textAreaRight" fmla="*/ 71280 w 70920"/>
                  <a:gd name="textAreaTop" fmla="*/ 0 h 63720"/>
                  <a:gd name="textAreaBottom" fmla="*/ 64080 h 63720"/>
                </a:gdLst>
                <a:ahLst/>
                <a:cxnLst/>
                <a:rect l="textAreaLeft" t="textAreaTop" r="textAreaRight" b="textAreaBottom"/>
                <a:pathLst>
                  <a:path w="25278" h="22674">
                    <a:moveTo>
                      <a:pt x="4438" y="1"/>
                    </a:moveTo>
                    <a:lnTo>
                      <a:pt x="0" y="5307"/>
                    </a:lnTo>
                    <a:lnTo>
                      <a:pt x="20839" y="22673"/>
                    </a:lnTo>
                    <a:lnTo>
                      <a:pt x="25277" y="17367"/>
                    </a:lnTo>
                    <a:lnTo>
                      <a:pt x="4438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040" bIns="32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9" name="Google Shape;2228;p40"/>
              <p:cNvSpPr/>
              <p:nvPr/>
            </p:nvSpPr>
            <p:spPr>
              <a:xfrm>
                <a:off x="4700520" y="1514880"/>
                <a:ext cx="19080" cy="68400"/>
              </a:xfrm>
              <a:custGeom>
                <a:avLst/>
                <a:gdLst>
                  <a:gd name="textAreaLeft" fmla="*/ 0 w 19080"/>
                  <a:gd name="textAreaRight" fmla="*/ 19440 w 1908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6947" h="24313">
                    <a:moveTo>
                      <a:pt x="0" y="1"/>
                    </a:moveTo>
                    <a:lnTo>
                      <a:pt x="0" y="24313"/>
                    </a:lnTo>
                    <a:lnTo>
                      <a:pt x="6947" y="24313"/>
                    </a:lnTo>
                    <a:lnTo>
                      <a:pt x="6947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0" name="Google Shape;2229;p40"/>
              <p:cNvSpPr/>
              <p:nvPr/>
            </p:nvSpPr>
            <p:spPr>
              <a:xfrm>
                <a:off x="4286520" y="1221120"/>
                <a:ext cx="82800" cy="38160"/>
              </a:xfrm>
              <a:custGeom>
                <a:avLst/>
                <a:gdLst>
                  <a:gd name="textAreaLeft" fmla="*/ 0 w 82800"/>
                  <a:gd name="textAreaRight" fmla="*/ 83160 w 82800"/>
                  <a:gd name="textAreaTop" fmla="*/ 0 h 38160"/>
                  <a:gd name="textAreaBottom" fmla="*/ 38520 h 38160"/>
                </a:gdLst>
                <a:ahLst/>
                <a:cxnLst/>
                <a:rect l="textAreaLeft" t="textAreaTop" r="textAreaRight" b="textAreaBottom"/>
                <a:pathLst>
                  <a:path w="29427" h="13701">
                    <a:moveTo>
                      <a:pt x="27786" y="1"/>
                    </a:moveTo>
                    <a:lnTo>
                      <a:pt x="1" y="6947"/>
                    </a:lnTo>
                    <a:lnTo>
                      <a:pt x="1641" y="13701"/>
                    </a:lnTo>
                    <a:lnTo>
                      <a:pt x="29426" y="6754"/>
                    </a:lnTo>
                    <a:lnTo>
                      <a:pt x="2778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080" bIns="190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1" name="Google Shape;2230;p40"/>
              <p:cNvSpPr/>
              <p:nvPr/>
            </p:nvSpPr>
            <p:spPr>
              <a:xfrm>
                <a:off x="4303080" y="1124640"/>
                <a:ext cx="79560" cy="64440"/>
              </a:xfrm>
              <a:custGeom>
                <a:avLst/>
                <a:gdLst>
                  <a:gd name="textAreaLeft" fmla="*/ 0 w 79560"/>
                  <a:gd name="textAreaRight" fmla="*/ 79920 w 79560"/>
                  <a:gd name="textAreaTop" fmla="*/ 0 h 64440"/>
                  <a:gd name="textAreaBottom" fmla="*/ 64800 h 64440"/>
                </a:gdLst>
                <a:ahLst/>
                <a:cxnLst/>
                <a:rect l="textAreaLeft" t="textAreaTop" r="textAreaRight" b="textAreaBottom"/>
                <a:pathLst>
                  <a:path w="28269" h="22963">
                    <a:moveTo>
                      <a:pt x="3956" y="1"/>
                    </a:moveTo>
                    <a:lnTo>
                      <a:pt x="0" y="5596"/>
                    </a:lnTo>
                    <a:lnTo>
                      <a:pt x="24313" y="22962"/>
                    </a:lnTo>
                    <a:lnTo>
                      <a:pt x="28268" y="17367"/>
                    </a:lnTo>
                    <a:lnTo>
                      <a:pt x="3956" y="1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2400" bIns="32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2" name="Google Shape;2231;p40"/>
              <p:cNvSpPr/>
              <p:nvPr/>
            </p:nvSpPr>
            <p:spPr>
              <a:xfrm>
                <a:off x="4386960" y="1071000"/>
                <a:ext cx="38520" cy="82800"/>
              </a:xfrm>
              <a:custGeom>
                <a:avLst/>
                <a:gdLst>
                  <a:gd name="textAreaLeft" fmla="*/ 0 w 38520"/>
                  <a:gd name="textAreaRight" fmla="*/ 38880 w 38520"/>
                  <a:gd name="textAreaTop" fmla="*/ 0 h 82800"/>
                  <a:gd name="textAreaBottom" fmla="*/ 83160 h 82800"/>
                </a:gdLst>
                <a:ahLst/>
                <a:cxnLst/>
                <a:rect l="textAreaLeft" t="textAreaTop" r="textAreaRight" b="textAreaBottom"/>
                <a:pathLst>
                  <a:path w="13797" h="29523">
                    <a:moveTo>
                      <a:pt x="6754" y="0"/>
                    </a:moveTo>
                    <a:lnTo>
                      <a:pt x="1" y="1737"/>
                    </a:lnTo>
                    <a:lnTo>
                      <a:pt x="7140" y="29522"/>
                    </a:lnTo>
                    <a:lnTo>
                      <a:pt x="13797" y="27786"/>
                    </a:lnTo>
                    <a:lnTo>
                      <a:pt x="6754" y="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400" bIns="41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52831" y="112208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Kesimpulan &amp; </a:t>
            </a:r>
            <a:r>
              <a:rPr lang="en-US" sz="2800" b="0" u="none" strike="noStrike" dirty="0" err="1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Refleksi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subTitle"/>
          </p:nvPr>
        </p:nvSpPr>
        <p:spPr>
          <a:xfrm>
            <a:off x="1200240" y="771836"/>
            <a:ext cx="5552640" cy="236736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Kesimpulan :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Convolutional Neural Network (CNN)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lebih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efektif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dibandingkan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MLP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untuk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klasifikasi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gambar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karena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mampu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mengenali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pola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visual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seperti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bentuk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warna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dan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tekstur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. Pada dataset CIFAR-10, model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memperoleh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akurasi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training 78.32% dan validation 69.97%,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namun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masih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mengalami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overfitting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sehingga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diperlukan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optimasi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seperti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Dropout dan Batch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Normalization.CNN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telah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banyak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digunakan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pada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bidang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kesehatan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kendaraan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otonom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keamanan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dan retail,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sehingga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menjadi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teknologi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penting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dalam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</a:t>
            </a:r>
            <a:r>
              <a:rPr lang="en-US" sz="1200" b="0" u="none" strike="noStrike" dirty="0" err="1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perkembangan</a:t>
            </a:r>
            <a:r>
              <a:rPr lang="en-US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Artificial Intelligence dan Computer Vision.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2">
            <a:extLst>
              <a:ext uri="{FF2B5EF4-FFF2-40B4-BE49-F238E27FC236}">
                <a16:creationId xmlns:a16="http://schemas.microsoft.com/office/drawing/2014/main" id="{E0073501-FF3E-48F8-8981-BAC8E300A5FB}"/>
              </a:ext>
            </a:extLst>
          </p:cNvPr>
          <p:cNvSpPr txBox="1">
            <a:spLocks/>
          </p:cNvSpPr>
          <p:nvPr/>
        </p:nvSpPr>
        <p:spPr>
          <a:xfrm>
            <a:off x="2203356" y="3110938"/>
            <a:ext cx="5552640" cy="13018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Refleksi</a:t>
            </a:r>
            <a:r>
              <a:rPr lang="en-US" sz="1200" b="1" dirty="0">
                <a:solidFill>
                  <a:schemeClr val="dk2"/>
                </a:solidFill>
                <a:latin typeface="Barlow Semi Condensed"/>
                <a:ea typeface="Barlow Semi Condensed"/>
              </a:rPr>
              <a:t> 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Praktikum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ini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menunjukkan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bahwa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keberhasilan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model AI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tidak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hanya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ditentukan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oleh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akurasi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,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tetapi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juga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kemampuan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model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dalam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mengenali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data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baru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dan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meminimalkan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kesalahan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 </a:t>
            </a:r>
            <a:r>
              <a:rPr lang="en-US" sz="1200" dirty="0" err="1">
                <a:solidFill>
                  <a:schemeClr val="dk2"/>
                </a:solidFill>
                <a:latin typeface="Barlow Semi Condensed"/>
                <a:ea typeface="Barlow Semi Condensed"/>
              </a:rPr>
              <a:t>prediksi</a:t>
            </a: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</a:rPr>
              <a:t>.</a:t>
            </a:r>
            <a:endParaRPr lang="en-US" sz="1200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2104920" y="380880"/>
            <a:ext cx="4933440" cy="107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0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Thanks!</a:t>
            </a:r>
            <a:endParaRPr lang="fr-FR" sz="7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 type="subTitle"/>
          </p:nvPr>
        </p:nvSpPr>
        <p:spPr>
          <a:xfrm>
            <a:off x="2104920" y="1940120"/>
            <a:ext cx="4933440" cy="104644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800" b="1" u="none" strike="noStrike" dirty="0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Do you have any questions?</a:t>
            </a:r>
            <a:endParaRPr lang="en-US" sz="28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ubTitle"/>
          </p:nvPr>
        </p:nvSpPr>
        <p:spPr>
          <a:xfrm>
            <a:off x="2676600" y="4229280"/>
            <a:ext cx="3790440" cy="42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Please keep this slide for attribution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98" name="Google Shape;3673;p65"/>
          <p:cNvGrpSpPr/>
          <p:nvPr/>
        </p:nvGrpSpPr>
        <p:grpSpPr>
          <a:xfrm>
            <a:off x="3733920" y="3221640"/>
            <a:ext cx="1680840" cy="338040"/>
            <a:chOff x="3733920" y="3221640"/>
            <a:chExt cx="1680840" cy="338040"/>
          </a:xfrm>
        </p:grpSpPr>
        <p:sp>
          <p:nvSpPr>
            <p:cNvPr id="499" name="Google Shape;3674;p65"/>
            <p:cNvSpPr/>
            <p:nvPr/>
          </p:nvSpPr>
          <p:spPr>
            <a:xfrm>
              <a:off x="3733920" y="3221640"/>
              <a:ext cx="338040" cy="338040"/>
            </a:xfrm>
            <a:custGeom>
              <a:avLst/>
              <a:gdLst>
                <a:gd name="textAreaLeft" fmla="*/ 0 w 338040"/>
                <a:gd name="textAreaRight" fmla="*/ 338400 w 338040"/>
                <a:gd name="textAreaTop" fmla="*/ 0 h 338040"/>
                <a:gd name="textAreaBottom" fmla="*/ 338400 h 33804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500" name="Google Shape;3675;p65"/>
            <p:cNvGrpSpPr/>
            <p:nvPr/>
          </p:nvGrpSpPr>
          <p:grpSpPr>
            <a:xfrm>
              <a:off x="4165920" y="3221640"/>
              <a:ext cx="338040" cy="338040"/>
              <a:chOff x="4165920" y="3221640"/>
              <a:chExt cx="338040" cy="338040"/>
            </a:xfrm>
          </p:grpSpPr>
          <p:sp>
            <p:nvSpPr>
              <p:cNvPr id="501" name="Google Shape;3676;p65"/>
              <p:cNvSpPr/>
              <p:nvPr/>
            </p:nvSpPr>
            <p:spPr>
              <a:xfrm>
                <a:off x="4266000" y="3321360"/>
                <a:ext cx="138600" cy="138600"/>
              </a:xfrm>
              <a:custGeom>
                <a:avLst/>
                <a:gdLst>
                  <a:gd name="textAreaLeft" fmla="*/ 0 w 138600"/>
                  <a:gd name="textAreaRight" fmla="*/ 138960 w 138600"/>
                  <a:gd name="textAreaTop" fmla="*/ 0 h 138600"/>
                  <a:gd name="textAreaBottom" fmla="*/ 138960 h 138600"/>
                </a:gdLst>
                <a:ahLst/>
                <a:cxnLst/>
                <a:rect l="textAreaLeft" t="textAreaTop" r="textAreaRight" b="textAreaBottom"/>
                <a:pathLst>
                  <a:path w="8197" h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9480" bIns="69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2" name="Google Shape;3677;p65"/>
              <p:cNvSpPr/>
              <p:nvPr/>
            </p:nvSpPr>
            <p:spPr>
              <a:xfrm>
                <a:off x="4205880" y="3261240"/>
                <a:ext cx="258840" cy="258840"/>
              </a:xfrm>
              <a:custGeom>
                <a:avLst/>
                <a:gdLst>
                  <a:gd name="textAreaLeft" fmla="*/ 0 w 258840"/>
                  <a:gd name="textAreaRight" fmla="*/ 259200 w 258840"/>
                  <a:gd name="textAreaTop" fmla="*/ 0 h 258840"/>
                  <a:gd name="textAreaBottom" fmla="*/ 259200 h 258840"/>
                </a:gdLst>
                <a:ahLst/>
                <a:cxnLst/>
                <a:rect l="textAreaLeft" t="textAreaTop" r="textAreaRight" b="textAreaBottom"/>
                <a:pathLst>
                  <a:path w="15300" h="15299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3" name="Google Shape;3678;p65"/>
              <p:cNvSpPr/>
              <p:nvPr/>
            </p:nvSpPr>
            <p:spPr>
              <a:xfrm>
                <a:off x="416592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4" h="19982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4" name="Google Shape;3679;p65"/>
              <p:cNvSpPr/>
              <p:nvPr/>
            </p:nvSpPr>
            <p:spPr>
              <a:xfrm>
                <a:off x="4384800" y="3301560"/>
                <a:ext cx="39240" cy="39240"/>
              </a:xfrm>
              <a:custGeom>
                <a:avLst/>
                <a:gdLst>
                  <a:gd name="textAreaLeft" fmla="*/ 0 w 39240"/>
                  <a:gd name="textAreaRight" fmla="*/ 39600 w 3924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2342" h="2343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9800" bIns="19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05" name="Google Shape;3680;p65"/>
            <p:cNvGrpSpPr/>
            <p:nvPr/>
          </p:nvGrpSpPr>
          <p:grpSpPr>
            <a:xfrm>
              <a:off x="4598280" y="3221640"/>
              <a:ext cx="338040" cy="338040"/>
              <a:chOff x="4598280" y="3221640"/>
              <a:chExt cx="338040" cy="338040"/>
            </a:xfrm>
          </p:grpSpPr>
          <p:sp>
            <p:nvSpPr>
              <p:cNvPr id="506" name="Google Shape;3681;p65"/>
              <p:cNvSpPr/>
              <p:nvPr/>
            </p:nvSpPr>
            <p:spPr>
              <a:xfrm>
                <a:off x="4648680" y="3341160"/>
                <a:ext cx="59040" cy="1782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3514" h="10537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9280" bIns="89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7" name="Google Shape;3682;p65"/>
              <p:cNvSpPr/>
              <p:nvPr/>
            </p:nvSpPr>
            <p:spPr>
              <a:xfrm>
                <a:off x="4648680" y="3261960"/>
                <a:ext cx="59040" cy="5904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3514" h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9520" bIns="295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8" name="Google Shape;3683;p65"/>
              <p:cNvSpPr/>
              <p:nvPr/>
            </p:nvSpPr>
            <p:spPr>
              <a:xfrm>
                <a:off x="4727880" y="3340800"/>
                <a:ext cx="158400" cy="178200"/>
              </a:xfrm>
              <a:custGeom>
                <a:avLst/>
                <a:gdLst>
                  <a:gd name="textAreaLeft" fmla="*/ 0 w 158400"/>
                  <a:gd name="textAreaRight" fmla="*/ 158760 w 15840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9368" h="10556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9280" bIns="89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9" name="Google Shape;3684;p65"/>
              <p:cNvSpPr/>
              <p:nvPr/>
            </p:nvSpPr>
            <p:spPr>
              <a:xfrm>
                <a:off x="459828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2" h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510" name="Google Shape;3685;p65"/>
            <p:cNvSpPr/>
            <p:nvPr/>
          </p:nvSpPr>
          <p:spPr>
            <a:xfrm>
              <a:off x="5074920" y="3252240"/>
              <a:ext cx="339840" cy="27684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0081" h="16377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B3FE100-24AC-47F8-A366-CA4F93D00DED}"/>
              </a:ext>
            </a:extLst>
          </p:cNvPr>
          <p:cNvSpPr/>
          <p:nvPr/>
        </p:nvSpPr>
        <p:spPr>
          <a:xfrm>
            <a:off x="2337456" y="3743676"/>
            <a:ext cx="4468368" cy="8329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 descr="Dilan cepmek meme">
            <a:extLst>
              <a:ext uri="{FF2B5EF4-FFF2-40B4-BE49-F238E27FC236}">
                <a16:creationId xmlns:a16="http://schemas.microsoft.com/office/drawing/2014/main" id="{61636D69-7E31-49DE-A225-B136CC438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1936" y="2946199"/>
            <a:ext cx="1452576" cy="181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617</Words>
  <Application>Microsoft Office PowerPoint</Application>
  <PresentationFormat>On-screen Show (16:9)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Barlow Semi Condensed</vt:lpstr>
      <vt:lpstr>Barlow Semi Condensed Medium</vt:lpstr>
      <vt:lpstr>Calibri</vt:lpstr>
      <vt:lpstr>Fjalla One</vt:lpstr>
      <vt:lpstr>OpenSymbol</vt:lpstr>
      <vt:lpstr>Symbol</vt:lpstr>
      <vt:lpstr>Wingdings</vt:lpstr>
      <vt:lpstr>Technology Consulting by Slidesgo</vt:lpstr>
      <vt:lpstr>Technology Consulting by Slidesgo</vt:lpstr>
      <vt:lpstr>Technology Consulting by Slidesgo</vt:lpstr>
      <vt:lpstr>Implementasi Convolutional Neural Network (CNN) untuk Klasifikasi Gambar Berwarna.</vt:lpstr>
      <vt:lpstr>Tujuan Pembelajaran (Agenda)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Dataset: CIFAR-10</vt:lpstr>
      <vt:lpstr>Dataset: CIFAR-10</vt:lpstr>
      <vt:lpstr>PowerPoint Presentation</vt:lpstr>
      <vt:lpstr>PowerPoint Presentation</vt:lpstr>
      <vt:lpstr>PowerPoint Presentation</vt:lpstr>
      <vt:lpstr>Analisis Kesalahan (Error Analysis)</vt:lpstr>
      <vt:lpstr>PowerPoint Presentation</vt:lpstr>
      <vt:lpstr>PowerPoint Presentation</vt:lpstr>
      <vt:lpstr>Kesimpulan &amp; Refleksi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Implementasi Convolutional Neural Network (CNN) untuk Klasifikasi Gambar Berwarna.</dc:title>
  <cp:lastModifiedBy>Addin Salim</cp:lastModifiedBy>
  <cp:revision>14</cp:revision>
  <dcterms:modified xsi:type="dcterms:W3CDTF">2026-06-03T15:23:00Z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2026-05-20T08:18:08Z</dcterms:created>
  <dc:creator>Unknown Creator</dc:creator>
  <dc:description/>
  <dc:language>en-US</dc:language>
  <cp:lastModifiedBy>Unknown Creator</cp:lastModifiedBy>
  <dcterms:modified xsi:type="dcterms:W3CDTF">2026-05-20T08:18:08Z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