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Narrow Bold" charset="1" panose="020B0806020202020B04"/>
      <p:regular r:id="rId22"/>
    </p:embeddedFont>
    <p:embeddedFont>
      <p:font typeface="XM Yekan" charset="1" panose="02000503030000020004"/>
      <p:regular r:id="rId23"/>
    </p:embeddedFont>
    <p:embeddedFont>
      <p:font typeface="XM Yekan Bold" charset="1" panose="0200080303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2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69431" y="-1673207"/>
            <a:ext cx="2189869" cy="3857967"/>
            <a:chOff x="0" y="0"/>
            <a:chExt cx="493351" cy="8691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351" cy="869154"/>
            </a:xfrm>
            <a:custGeom>
              <a:avLst/>
              <a:gdLst/>
              <a:ahLst/>
              <a:cxnLst/>
              <a:rect r="r" b="b" t="t" l="l"/>
              <a:pathLst>
                <a:path h="869154" w="493351">
                  <a:moveTo>
                    <a:pt x="110479" y="0"/>
                  </a:moveTo>
                  <a:lnTo>
                    <a:pt x="382872" y="0"/>
                  </a:lnTo>
                  <a:cubicBezTo>
                    <a:pt x="412173" y="0"/>
                    <a:pt x="440274" y="11640"/>
                    <a:pt x="460993" y="32359"/>
                  </a:cubicBezTo>
                  <a:cubicBezTo>
                    <a:pt x="481712" y="53077"/>
                    <a:pt x="493351" y="81178"/>
                    <a:pt x="493351" y="110479"/>
                  </a:cubicBezTo>
                  <a:lnTo>
                    <a:pt x="493351" y="758675"/>
                  </a:lnTo>
                  <a:cubicBezTo>
                    <a:pt x="493351" y="819691"/>
                    <a:pt x="443888" y="869154"/>
                    <a:pt x="382872" y="869154"/>
                  </a:cubicBezTo>
                  <a:lnTo>
                    <a:pt x="110479" y="869154"/>
                  </a:lnTo>
                  <a:cubicBezTo>
                    <a:pt x="81178" y="869154"/>
                    <a:pt x="53077" y="857514"/>
                    <a:pt x="32359" y="836795"/>
                  </a:cubicBezTo>
                  <a:cubicBezTo>
                    <a:pt x="11640" y="816076"/>
                    <a:pt x="0" y="787976"/>
                    <a:pt x="0" y="758675"/>
                  </a:cubicBezTo>
                  <a:lnTo>
                    <a:pt x="0" y="110479"/>
                  </a:lnTo>
                  <a:cubicBezTo>
                    <a:pt x="0" y="81178"/>
                    <a:pt x="11640" y="53077"/>
                    <a:pt x="32359" y="32359"/>
                  </a:cubicBezTo>
                  <a:cubicBezTo>
                    <a:pt x="53077" y="11640"/>
                    <a:pt x="81178" y="0"/>
                    <a:pt x="110479" y="0"/>
                  </a:cubicBezTo>
                  <a:close/>
                </a:path>
              </a:pathLst>
            </a:custGeom>
            <a:solidFill>
              <a:srgbClr val="1FAE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93351" cy="859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244071">
            <a:off x="14263998" y="8576955"/>
            <a:ext cx="5990604" cy="3420090"/>
          </a:xfrm>
          <a:custGeom>
            <a:avLst/>
            <a:gdLst/>
            <a:ahLst/>
            <a:cxnLst/>
            <a:rect r="r" b="b" t="t" l="l"/>
            <a:pathLst>
              <a:path h="3420090" w="5990604">
                <a:moveTo>
                  <a:pt x="0" y="0"/>
                </a:moveTo>
                <a:lnTo>
                  <a:pt x="5990604" y="0"/>
                </a:lnTo>
                <a:lnTo>
                  <a:pt x="5990604" y="3420090"/>
                </a:lnTo>
                <a:lnTo>
                  <a:pt x="0" y="3420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66046">
            <a:off x="11623662" y="4211131"/>
            <a:ext cx="5199138" cy="4943908"/>
          </a:xfrm>
          <a:custGeom>
            <a:avLst/>
            <a:gdLst/>
            <a:ahLst/>
            <a:cxnLst/>
            <a:rect r="r" b="b" t="t" l="l"/>
            <a:pathLst>
              <a:path h="4943908" w="5199138">
                <a:moveTo>
                  <a:pt x="5199138" y="0"/>
                </a:moveTo>
                <a:lnTo>
                  <a:pt x="0" y="0"/>
                </a:lnTo>
                <a:lnTo>
                  <a:pt x="0" y="4943908"/>
                </a:lnTo>
                <a:lnTo>
                  <a:pt x="5199138" y="4943908"/>
                </a:lnTo>
                <a:lnTo>
                  <a:pt x="51991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34003" y="255777"/>
            <a:ext cx="1362703" cy="2725406"/>
          </a:xfrm>
          <a:custGeom>
            <a:avLst/>
            <a:gdLst/>
            <a:ahLst/>
            <a:cxnLst/>
            <a:rect r="r" b="b" t="t" l="l"/>
            <a:pathLst>
              <a:path h="2725406" w="1362703">
                <a:moveTo>
                  <a:pt x="1362703" y="0"/>
                </a:moveTo>
                <a:lnTo>
                  <a:pt x="0" y="0"/>
                </a:lnTo>
                <a:lnTo>
                  <a:pt x="0" y="2725406"/>
                </a:lnTo>
                <a:lnTo>
                  <a:pt x="1362703" y="2725406"/>
                </a:lnTo>
                <a:lnTo>
                  <a:pt x="13627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21804" y="5416969"/>
            <a:ext cx="1340179" cy="1345070"/>
          </a:xfrm>
          <a:custGeom>
            <a:avLst/>
            <a:gdLst/>
            <a:ahLst/>
            <a:cxnLst/>
            <a:rect r="r" b="b" t="t" l="l"/>
            <a:pathLst>
              <a:path h="1345070" w="1340179">
                <a:moveTo>
                  <a:pt x="0" y="0"/>
                </a:moveTo>
                <a:lnTo>
                  <a:pt x="1340179" y="0"/>
                </a:lnTo>
                <a:lnTo>
                  <a:pt x="1340179" y="1345070"/>
                </a:lnTo>
                <a:lnTo>
                  <a:pt x="0" y="1345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92109" y="510813"/>
            <a:ext cx="1032007" cy="1035774"/>
          </a:xfrm>
          <a:custGeom>
            <a:avLst/>
            <a:gdLst/>
            <a:ahLst/>
            <a:cxnLst/>
            <a:rect r="r" b="b" t="t" l="l"/>
            <a:pathLst>
              <a:path h="1035774" w="1032007">
                <a:moveTo>
                  <a:pt x="0" y="0"/>
                </a:moveTo>
                <a:lnTo>
                  <a:pt x="1032007" y="0"/>
                </a:lnTo>
                <a:lnTo>
                  <a:pt x="1032007" y="1035774"/>
                </a:lnTo>
                <a:lnTo>
                  <a:pt x="0" y="1035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27105" y="305757"/>
            <a:ext cx="1474521" cy="1465691"/>
          </a:xfrm>
          <a:custGeom>
            <a:avLst/>
            <a:gdLst/>
            <a:ahLst/>
            <a:cxnLst/>
            <a:rect r="r" b="b" t="t" l="l"/>
            <a:pathLst>
              <a:path h="1465691" w="1474521">
                <a:moveTo>
                  <a:pt x="0" y="0"/>
                </a:moveTo>
                <a:lnTo>
                  <a:pt x="1474521" y="0"/>
                </a:lnTo>
                <a:lnTo>
                  <a:pt x="1474521" y="1465691"/>
                </a:lnTo>
                <a:lnTo>
                  <a:pt x="0" y="14656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649393"/>
            <a:ext cx="13203948" cy="376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7"/>
              </a:lnSpc>
            </a:pPr>
            <a:r>
              <a:rPr lang="en-US" sz="8523" b="true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Pengenalan Angka Tulisan Tangan Menggunakan Neural Network (MLP)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55281"/>
            <a:ext cx="5863409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NISA AGUSTIN,2411070040</a:t>
            </a: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SITI YOLANDA HARENIZA, 2411070032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531225"/>
            <a:ext cx="8364987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DOSEN PENGAMPU : </a:t>
            </a:r>
          </a:p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RONGGO BINTANG PANGESTU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877683" y="7854226"/>
            <a:ext cx="1032007" cy="1035774"/>
          </a:xfrm>
          <a:custGeom>
            <a:avLst/>
            <a:gdLst/>
            <a:ahLst/>
            <a:cxnLst/>
            <a:rect r="r" b="b" t="t" l="l"/>
            <a:pathLst>
              <a:path h="1035774" w="1032007">
                <a:moveTo>
                  <a:pt x="0" y="0"/>
                </a:moveTo>
                <a:lnTo>
                  <a:pt x="1032007" y="0"/>
                </a:lnTo>
                <a:lnTo>
                  <a:pt x="1032007" y="1035774"/>
                </a:lnTo>
                <a:lnTo>
                  <a:pt x="0" y="1035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6505285"/>
            <a:ext cx="5863409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DI SUSUN OLEH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642154" y="72009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3875394" y="0"/>
                </a:moveTo>
                <a:lnTo>
                  <a:pt x="0" y="0"/>
                </a:lnTo>
                <a:lnTo>
                  <a:pt x="0" y="4114800"/>
                </a:lnTo>
                <a:lnTo>
                  <a:pt x="3875394" y="4114800"/>
                </a:lnTo>
                <a:lnTo>
                  <a:pt x="38753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42674" y="3883905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42674" y="5143500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42674" y="6403095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00029">
            <a:off x="-2071092" y="1305770"/>
            <a:ext cx="3847278" cy="3658411"/>
          </a:xfrm>
          <a:custGeom>
            <a:avLst/>
            <a:gdLst/>
            <a:ahLst/>
            <a:cxnLst/>
            <a:rect r="r" b="b" t="t" l="l"/>
            <a:pathLst>
              <a:path h="3658411" w="3847278">
                <a:moveTo>
                  <a:pt x="0" y="0"/>
                </a:moveTo>
                <a:lnTo>
                  <a:pt x="3847278" y="0"/>
                </a:lnTo>
                <a:lnTo>
                  <a:pt x="3847278" y="3658411"/>
                </a:lnTo>
                <a:lnTo>
                  <a:pt x="0" y="36584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2674" y="1941669"/>
            <a:ext cx="708771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LATAR BELAKANG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1361" y="3870516"/>
            <a:ext cx="121315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Te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knologi Artificial Intelligence memungkinkan komputer untuk mengenali pola seperti gambar, suara, dan tulisan tangan.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01361" y="5153025"/>
            <a:ext cx="121315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Salah satu p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enerapan yang sering digunakan adalah pengenalan angka tulisan tangan menggunakan Neural Network.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1361" y="6473825"/>
            <a:ext cx="1213152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Pada project ini dig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unakan metode Multi-Layer Perceptron (MLP) untuk melatih komputer agar dapat mengenali angka (0-9) dari dataset MNIST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642154" y="72009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3875394" y="0"/>
                </a:moveTo>
                <a:lnTo>
                  <a:pt x="0" y="0"/>
                </a:lnTo>
                <a:lnTo>
                  <a:pt x="0" y="4114800"/>
                </a:lnTo>
                <a:lnTo>
                  <a:pt x="3875394" y="4114800"/>
                </a:lnTo>
                <a:lnTo>
                  <a:pt x="38753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42674" y="3702930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42674" y="4765675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42674" y="6007100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00029">
            <a:off x="-2071092" y="1305770"/>
            <a:ext cx="3847278" cy="3658411"/>
          </a:xfrm>
          <a:custGeom>
            <a:avLst/>
            <a:gdLst/>
            <a:ahLst/>
            <a:cxnLst/>
            <a:rect r="r" b="b" t="t" l="l"/>
            <a:pathLst>
              <a:path h="3658411" w="3847278">
                <a:moveTo>
                  <a:pt x="0" y="0"/>
                </a:moveTo>
                <a:lnTo>
                  <a:pt x="3847278" y="0"/>
                </a:lnTo>
                <a:lnTo>
                  <a:pt x="3847278" y="3658411"/>
                </a:lnTo>
                <a:lnTo>
                  <a:pt x="0" y="36584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2674" y="1941669"/>
            <a:ext cx="708771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TUJUAN PENELITIAN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1361" y="3870516"/>
            <a:ext cx="603074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Mem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ahami konsep Neural Network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13260" y="4752286"/>
            <a:ext cx="603074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Mengimplementas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ikan Multi-Layer Perceptron (MLP)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1361" y="5993711"/>
            <a:ext cx="603074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Melatih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 model untuk mengenali angka tulisan tangan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1361" y="7235136"/>
            <a:ext cx="603074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nguji performa model menggunakan beberapa hyperparameter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142674" y="7271439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04973" y="3388544"/>
            <a:ext cx="4590359" cy="4573667"/>
          </a:xfrm>
          <a:custGeom>
            <a:avLst/>
            <a:gdLst/>
            <a:ahLst/>
            <a:cxnLst/>
            <a:rect r="r" b="b" t="t" l="l"/>
            <a:pathLst>
              <a:path h="4573667" w="4590359">
                <a:moveTo>
                  <a:pt x="0" y="0"/>
                </a:moveTo>
                <a:lnTo>
                  <a:pt x="4590359" y="0"/>
                </a:lnTo>
                <a:lnTo>
                  <a:pt x="4590359" y="4573667"/>
                </a:lnTo>
                <a:lnTo>
                  <a:pt x="0" y="457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52524" y="7789923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4463787" y="0"/>
                </a:moveTo>
                <a:lnTo>
                  <a:pt x="0" y="0"/>
                </a:lnTo>
                <a:lnTo>
                  <a:pt x="0" y="4114800"/>
                </a:lnTo>
                <a:lnTo>
                  <a:pt x="4463787" y="4114800"/>
                </a:lnTo>
                <a:lnTo>
                  <a:pt x="44637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4390" y="4794408"/>
            <a:ext cx="4763935" cy="2685127"/>
          </a:xfrm>
          <a:custGeom>
            <a:avLst/>
            <a:gdLst/>
            <a:ahLst/>
            <a:cxnLst/>
            <a:rect r="r" b="b" t="t" l="l"/>
            <a:pathLst>
              <a:path h="2685127" w="4763935">
                <a:moveTo>
                  <a:pt x="0" y="0"/>
                </a:moveTo>
                <a:lnTo>
                  <a:pt x="4763935" y="0"/>
                </a:lnTo>
                <a:lnTo>
                  <a:pt x="4763935" y="2685127"/>
                </a:lnTo>
                <a:lnTo>
                  <a:pt x="0" y="2685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44390" y="1923896"/>
            <a:ext cx="708771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Apa itu Neural Network?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04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225429" y="1443208"/>
            <a:ext cx="1362703" cy="2725406"/>
          </a:xfrm>
          <a:custGeom>
            <a:avLst/>
            <a:gdLst/>
            <a:ahLst/>
            <a:cxnLst/>
            <a:rect r="r" b="b" t="t" l="l"/>
            <a:pathLst>
              <a:path h="2725406" w="1362703">
                <a:moveTo>
                  <a:pt x="0" y="0"/>
                </a:moveTo>
                <a:lnTo>
                  <a:pt x="1362703" y="0"/>
                </a:lnTo>
                <a:lnTo>
                  <a:pt x="1362703" y="2725406"/>
                </a:lnTo>
                <a:lnTo>
                  <a:pt x="0" y="27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09599" y="2815436"/>
            <a:ext cx="9549701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Neural Network adalah algoritma y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ang</a:t>
            </a: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 meniru cara kerja otak manusia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.</a:t>
            </a:r>
          </a:p>
          <a:p>
            <a:pPr algn="l">
              <a:lnSpc>
                <a:spcPts val="2899"/>
              </a:lnSpc>
            </a:pP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Model ini terdiri dari </a:t>
            </a: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neuron-neuron buatan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 yang saling </a:t>
            </a: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terhubung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 untuk memproses data dan mengenali pola.</a:t>
            </a:r>
          </a:p>
          <a:p>
            <a:pPr algn="l">
              <a:lnSpc>
                <a:spcPts val="28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94237" y="7789923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297069" y="6498553"/>
            <a:ext cx="603074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Belajar dari data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194237" y="6330967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75727" y="5662839"/>
            <a:ext cx="603074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Neural</a:t>
            </a:r>
            <a:r>
              <a:rPr lang="en-US" b="true" sz="2499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 Network mampu 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194237" y="7021739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97069" y="7189324"/>
            <a:ext cx="603074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engenali pola kompleks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97069" y="7957508"/>
            <a:ext cx="603074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Melakukan prediksi otomatis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3416" y="3871918"/>
            <a:ext cx="4279144" cy="3293015"/>
            <a:chOff x="0" y="0"/>
            <a:chExt cx="1417750" cy="10910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7750" cy="1091030"/>
            </a:xfrm>
            <a:custGeom>
              <a:avLst/>
              <a:gdLst/>
              <a:ahLst/>
              <a:cxnLst/>
              <a:rect r="r" b="b" t="t" l="l"/>
              <a:pathLst>
                <a:path h="1091030" w="1417750">
                  <a:moveTo>
                    <a:pt x="0" y="0"/>
                  </a:moveTo>
                  <a:lnTo>
                    <a:pt x="1417750" y="0"/>
                  </a:lnTo>
                  <a:lnTo>
                    <a:pt x="1417750" y="1091030"/>
                  </a:lnTo>
                  <a:lnTo>
                    <a:pt x="0" y="109103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417750" cy="108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21043" y="3871918"/>
            <a:ext cx="4279144" cy="3293015"/>
            <a:chOff x="0" y="0"/>
            <a:chExt cx="1417750" cy="1091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7750" cy="1091030"/>
            </a:xfrm>
            <a:custGeom>
              <a:avLst/>
              <a:gdLst/>
              <a:ahLst/>
              <a:cxnLst/>
              <a:rect r="r" b="b" t="t" l="l"/>
              <a:pathLst>
                <a:path h="1091030" w="1417750">
                  <a:moveTo>
                    <a:pt x="0" y="0"/>
                  </a:moveTo>
                  <a:lnTo>
                    <a:pt x="1417750" y="0"/>
                  </a:lnTo>
                  <a:lnTo>
                    <a:pt x="1417750" y="1091030"/>
                  </a:lnTo>
                  <a:lnTo>
                    <a:pt x="0" y="109103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417750" cy="108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36401" y="585325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14806" y="1445755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11069" y="1455280"/>
            <a:ext cx="8065861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ARSITEKTUR NEURAL NETWORK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19453" y="4910028"/>
            <a:ext cx="2827069" cy="36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Inpu</a:t>
            </a: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 Layer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7080" y="4910028"/>
            <a:ext cx="2827069" cy="36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Hidd</a:t>
            </a: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en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3416" y="5511257"/>
            <a:ext cx="4279144" cy="5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Menerima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21043" y="5511257"/>
            <a:ext cx="4279144" cy="5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Memproses data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11178" y="3871918"/>
            <a:ext cx="4279144" cy="3293015"/>
            <a:chOff x="0" y="0"/>
            <a:chExt cx="1417750" cy="10910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7750" cy="1091030"/>
            </a:xfrm>
            <a:custGeom>
              <a:avLst/>
              <a:gdLst/>
              <a:ahLst/>
              <a:cxnLst/>
              <a:rect r="r" b="b" t="t" l="l"/>
              <a:pathLst>
                <a:path h="1091030" w="1417750">
                  <a:moveTo>
                    <a:pt x="0" y="0"/>
                  </a:moveTo>
                  <a:lnTo>
                    <a:pt x="1417750" y="0"/>
                  </a:lnTo>
                  <a:lnTo>
                    <a:pt x="1417750" y="1091030"/>
                  </a:lnTo>
                  <a:lnTo>
                    <a:pt x="0" y="109103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417750" cy="108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737215" y="4910028"/>
            <a:ext cx="2827069" cy="36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Output Lay</a:t>
            </a: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1178" y="5382038"/>
            <a:ext cx="4279144" cy="116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Menghasilkan prediksi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2908" y="5674866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1893" y="152886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2286" y="6698214"/>
            <a:ext cx="785879" cy="1034052"/>
          </a:xfrm>
          <a:custGeom>
            <a:avLst/>
            <a:gdLst/>
            <a:ahLst/>
            <a:cxnLst/>
            <a:rect r="r" b="b" t="t" l="l"/>
            <a:pathLst>
              <a:path h="1034052" w="785879">
                <a:moveTo>
                  <a:pt x="0" y="0"/>
                </a:moveTo>
                <a:lnTo>
                  <a:pt x="785880" y="0"/>
                </a:lnTo>
                <a:lnTo>
                  <a:pt x="785880" y="1034052"/>
                </a:lnTo>
                <a:lnTo>
                  <a:pt x="0" y="1034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63692" y="4146032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63692" y="5045935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63692" y="5984977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35720" y="6628827"/>
            <a:ext cx="3364348" cy="2629473"/>
          </a:xfrm>
          <a:custGeom>
            <a:avLst/>
            <a:gdLst/>
            <a:ahLst/>
            <a:cxnLst/>
            <a:rect r="r" b="b" t="t" l="l"/>
            <a:pathLst>
              <a:path h="2629473" w="3364348">
                <a:moveTo>
                  <a:pt x="0" y="0"/>
                </a:moveTo>
                <a:lnTo>
                  <a:pt x="3364348" y="0"/>
                </a:lnTo>
                <a:lnTo>
                  <a:pt x="3364348" y="2629473"/>
                </a:lnTo>
                <a:lnTo>
                  <a:pt x="0" y="26294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7805" y="1186434"/>
            <a:ext cx="1916964" cy="1725268"/>
          </a:xfrm>
          <a:custGeom>
            <a:avLst/>
            <a:gdLst/>
            <a:ahLst/>
            <a:cxnLst/>
            <a:rect r="r" b="b" t="t" l="l"/>
            <a:pathLst>
              <a:path h="1725268" w="1916964">
                <a:moveTo>
                  <a:pt x="0" y="0"/>
                </a:moveTo>
                <a:lnTo>
                  <a:pt x="1916964" y="0"/>
                </a:lnTo>
                <a:lnTo>
                  <a:pt x="1916964" y="1725268"/>
                </a:lnTo>
                <a:lnTo>
                  <a:pt x="0" y="17252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11069" y="1538389"/>
            <a:ext cx="8065861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KOMPONEN NEURAL NETWORK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28630" y="4155557"/>
            <a:ext cx="603074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Weight (w)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: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 kekuatan hubungan antar neuron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13260" y="7338565"/>
            <a:ext cx="6030740" cy="245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Activation Function :</a:t>
            </a:r>
          </a:p>
          <a:p>
            <a:pPr algn="l" marL="539749" indent="-269875" lvl="1">
              <a:lnSpc>
                <a:spcPts val="39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ReLU</a:t>
            </a:r>
          </a:p>
          <a:p>
            <a:pPr algn="l" marL="539749" indent="-269875" lvl="1">
              <a:lnSpc>
                <a:spcPts val="39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Sigmoid</a:t>
            </a:r>
          </a:p>
          <a:p>
            <a:pPr algn="l" marL="539749" indent="-269875" lvl="1">
              <a:lnSpc>
                <a:spcPts val="39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Softmax</a:t>
            </a:r>
          </a:p>
          <a:p>
            <a:pPr algn="l">
              <a:lnSpc>
                <a:spcPts val="394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128630" y="5948674"/>
            <a:ext cx="603074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b="true" sz="2499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Activation Function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: menentukan output neuron aktif atau tidak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28630" y="5213521"/>
            <a:ext cx="603074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b="true" sz="2499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Bias (b):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 penyesuaian 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2908" y="5674866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1893" y="152886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56659" y="4846104"/>
            <a:ext cx="2570991" cy="2839448"/>
          </a:xfrm>
          <a:custGeom>
            <a:avLst/>
            <a:gdLst/>
            <a:ahLst/>
            <a:cxnLst/>
            <a:rect r="r" b="b" t="t" l="l"/>
            <a:pathLst>
              <a:path h="2839448" w="2570991">
                <a:moveTo>
                  <a:pt x="0" y="0"/>
                </a:moveTo>
                <a:lnTo>
                  <a:pt x="2570991" y="0"/>
                </a:lnTo>
                <a:lnTo>
                  <a:pt x="2570991" y="2839449"/>
                </a:lnTo>
                <a:lnTo>
                  <a:pt x="0" y="28394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8166" y="1538389"/>
            <a:ext cx="8065861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MULTI-LAYER PERCEPTRON (MLP)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8166" y="5538889"/>
            <a:ext cx="9407630" cy="19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Karakteristik:</a:t>
            </a:r>
          </a:p>
          <a:p>
            <a:pPr algn="l" marL="539749" indent="-269875" lvl="1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Feed Forward Neural Network</a:t>
            </a:r>
          </a:p>
          <a:p>
            <a:pPr algn="l" marL="539749" indent="-269875" lvl="1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Cocok untuk klasifikasi</a:t>
            </a:r>
          </a:p>
          <a:p>
            <a:pPr algn="l" marL="539749" indent="-269875" lvl="1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Dapat mempelajari pola kompleks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8166" y="4119029"/>
            <a:ext cx="940763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MLP adalah jenis Neural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 Network yang memiliki satu atau lebih hidden layer.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25429" y="1443208"/>
            <a:ext cx="1362703" cy="2725406"/>
          </a:xfrm>
          <a:custGeom>
            <a:avLst/>
            <a:gdLst/>
            <a:ahLst/>
            <a:cxnLst/>
            <a:rect r="r" b="b" t="t" l="l"/>
            <a:pathLst>
              <a:path h="2725406" w="1362703">
                <a:moveTo>
                  <a:pt x="0" y="0"/>
                </a:moveTo>
                <a:lnTo>
                  <a:pt x="1362703" y="0"/>
                </a:lnTo>
                <a:lnTo>
                  <a:pt x="1362703" y="2725406"/>
                </a:lnTo>
                <a:lnTo>
                  <a:pt x="0" y="272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57501" y="8029265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4463787" y="0"/>
                </a:moveTo>
                <a:lnTo>
                  <a:pt x="0" y="0"/>
                </a:lnTo>
                <a:lnTo>
                  <a:pt x="0" y="4114800"/>
                </a:lnTo>
                <a:lnTo>
                  <a:pt x="4463787" y="4114800"/>
                </a:lnTo>
                <a:lnTo>
                  <a:pt x="44637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561" y="1443208"/>
            <a:ext cx="2051730" cy="2931044"/>
          </a:xfrm>
          <a:custGeom>
            <a:avLst/>
            <a:gdLst/>
            <a:ahLst/>
            <a:cxnLst/>
            <a:rect r="r" b="b" t="t" l="l"/>
            <a:pathLst>
              <a:path h="2931044" w="2051730">
                <a:moveTo>
                  <a:pt x="0" y="0"/>
                </a:moveTo>
                <a:lnTo>
                  <a:pt x="2051730" y="0"/>
                </a:lnTo>
                <a:lnTo>
                  <a:pt x="2051730" y="2931043"/>
                </a:lnTo>
                <a:lnTo>
                  <a:pt x="0" y="293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71945" y="1452733"/>
            <a:ext cx="11744109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CARA KERJA MPL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22970" y="3441539"/>
            <a:ext cx="5642061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1. Forward Propagation</a:t>
            </a:r>
          </a:p>
          <a:p>
            <a:pPr algn="l">
              <a:lnSpc>
                <a:spcPts val="2899"/>
              </a:lnSpc>
            </a:pP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ata diproses dari input ke output.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5027" y="5813676"/>
            <a:ext cx="5642061" cy="145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2. Loss Calculation</a:t>
            </a:r>
          </a:p>
          <a:p>
            <a:pPr algn="l">
              <a:lnSpc>
                <a:spcPts val="2899"/>
              </a:lnSpc>
            </a:pP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Menghitung selisih prediksi dengan jawaban asli.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23712" y="5813676"/>
            <a:ext cx="5865326" cy="145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3.</a:t>
            </a:r>
            <a:r>
              <a:rPr lang="en-US" b="true" sz="2499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Backpropagation</a:t>
            </a:r>
          </a:p>
          <a:p>
            <a:pPr algn="l">
              <a:lnSpc>
                <a:spcPts val="2899"/>
              </a:lnSpc>
            </a:pP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Memperbaiki bobot dan bias berdasarkan error.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44000" y="8222526"/>
            <a:ext cx="1032007" cy="1035774"/>
          </a:xfrm>
          <a:custGeom>
            <a:avLst/>
            <a:gdLst/>
            <a:ahLst/>
            <a:cxnLst/>
            <a:rect r="r" b="b" t="t" l="l"/>
            <a:pathLst>
              <a:path h="1035774" w="1032007">
                <a:moveTo>
                  <a:pt x="0" y="0"/>
                </a:moveTo>
                <a:lnTo>
                  <a:pt x="1032007" y="0"/>
                </a:lnTo>
                <a:lnTo>
                  <a:pt x="1032007" y="1035774"/>
                </a:lnTo>
                <a:lnTo>
                  <a:pt x="0" y="1035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1945" y="1941669"/>
            <a:ext cx="11744109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DATASET MNIST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60592" y="3831498"/>
            <a:ext cx="5642061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ataset berisi gambar angka tulisan tangan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60592" y="5274734"/>
            <a:ext cx="5875268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Uk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uran: 28 × 28 piksel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0592" y="6434808"/>
            <a:ext cx="647124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L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abel: angka 0–9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25429" y="1443208"/>
            <a:ext cx="1362703" cy="2725406"/>
          </a:xfrm>
          <a:custGeom>
            <a:avLst/>
            <a:gdLst/>
            <a:ahLst/>
            <a:cxnLst/>
            <a:rect r="r" b="b" t="t" l="l"/>
            <a:pathLst>
              <a:path h="2725406" w="1362703">
                <a:moveTo>
                  <a:pt x="0" y="0"/>
                </a:moveTo>
                <a:lnTo>
                  <a:pt x="1362703" y="0"/>
                </a:lnTo>
                <a:lnTo>
                  <a:pt x="1362703" y="2725406"/>
                </a:lnTo>
                <a:lnTo>
                  <a:pt x="0" y="272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057501" y="8029265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4463787" y="0"/>
                </a:moveTo>
                <a:lnTo>
                  <a:pt x="0" y="0"/>
                </a:lnTo>
                <a:lnTo>
                  <a:pt x="0" y="4114800"/>
                </a:lnTo>
                <a:lnTo>
                  <a:pt x="4463787" y="4114800"/>
                </a:lnTo>
                <a:lnTo>
                  <a:pt x="44637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60592" y="7514308"/>
            <a:ext cx="647124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Digun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akan untuk training dan testing model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16753" y="3772385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16753" y="5143500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1"/>
                </a:lnTo>
                <a:lnTo>
                  <a:pt x="0" y="69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16753" y="6267222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16753" y="7390944"/>
            <a:ext cx="735221" cy="690771"/>
          </a:xfrm>
          <a:custGeom>
            <a:avLst/>
            <a:gdLst/>
            <a:ahLst/>
            <a:cxnLst/>
            <a:rect r="r" b="b" t="t" l="l"/>
            <a:pathLst>
              <a:path h="690771" w="735221">
                <a:moveTo>
                  <a:pt x="0" y="0"/>
                </a:moveTo>
                <a:lnTo>
                  <a:pt x="735221" y="0"/>
                </a:lnTo>
                <a:lnTo>
                  <a:pt x="735221" y="690772"/>
                </a:lnTo>
                <a:lnTo>
                  <a:pt x="0" y="690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642154" y="72009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3875394" y="0"/>
                </a:moveTo>
                <a:lnTo>
                  <a:pt x="0" y="0"/>
                </a:lnTo>
                <a:lnTo>
                  <a:pt x="0" y="4114800"/>
                </a:lnTo>
                <a:lnTo>
                  <a:pt x="3875394" y="4114800"/>
                </a:lnTo>
                <a:lnTo>
                  <a:pt x="38753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0029">
            <a:off x="-2071092" y="1305770"/>
            <a:ext cx="3847278" cy="3658411"/>
          </a:xfrm>
          <a:custGeom>
            <a:avLst/>
            <a:gdLst/>
            <a:ahLst/>
            <a:cxnLst/>
            <a:rect r="r" b="b" t="t" l="l"/>
            <a:pathLst>
              <a:path h="3658411" w="3847278">
                <a:moveTo>
                  <a:pt x="0" y="0"/>
                </a:moveTo>
                <a:lnTo>
                  <a:pt x="3847278" y="0"/>
                </a:lnTo>
                <a:lnTo>
                  <a:pt x="3847278" y="3658411"/>
                </a:lnTo>
                <a:lnTo>
                  <a:pt x="0" y="365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2428" y="2621466"/>
            <a:ext cx="10283143" cy="5780668"/>
          </a:xfrm>
          <a:custGeom>
            <a:avLst/>
            <a:gdLst/>
            <a:ahLst/>
            <a:cxnLst/>
            <a:rect r="r" b="b" t="t" l="l"/>
            <a:pathLst>
              <a:path h="5780668" w="10283143">
                <a:moveTo>
                  <a:pt x="0" y="0"/>
                </a:moveTo>
                <a:lnTo>
                  <a:pt x="10283144" y="0"/>
                </a:lnTo>
                <a:lnTo>
                  <a:pt x="10283144" y="5780668"/>
                </a:lnTo>
                <a:lnTo>
                  <a:pt x="0" y="578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0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4610" y="1195959"/>
            <a:ext cx="8538779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CONTOH DATASET MNIST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642154" y="7200900"/>
            <a:ext cx="3875393" cy="4114800"/>
          </a:xfrm>
          <a:custGeom>
            <a:avLst/>
            <a:gdLst/>
            <a:ahLst/>
            <a:cxnLst/>
            <a:rect r="r" b="b" t="t" l="l"/>
            <a:pathLst>
              <a:path h="4114800" w="3875393">
                <a:moveTo>
                  <a:pt x="3875394" y="0"/>
                </a:moveTo>
                <a:lnTo>
                  <a:pt x="0" y="0"/>
                </a:lnTo>
                <a:lnTo>
                  <a:pt x="0" y="4114800"/>
                </a:lnTo>
                <a:lnTo>
                  <a:pt x="3875394" y="4114800"/>
                </a:lnTo>
                <a:lnTo>
                  <a:pt x="38753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00029">
            <a:off x="-2071092" y="1305770"/>
            <a:ext cx="3847278" cy="3658411"/>
          </a:xfrm>
          <a:custGeom>
            <a:avLst/>
            <a:gdLst/>
            <a:ahLst/>
            <a:cxnLst/>
            <a:rect r="r" b="b" t="t" l="l"/>
            <a:pathLst>
              <a:path h="3658411" w="3847278">
                <a:moveTo>
                  <a:pt x="0" y="0"/>
                </a:moveTo>
                <a:lnTo>
                  <a:pt x="3847278" y="0"/>
                </a:lnTo>
                <a:lnTo>
                  <a:pt x="3847278" y="3658411"/>
                </a:lnTo>
                <a:lnTo>
                  <a:pt x="0" y="365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44390" y="1556778"/>
            <a:ext cx="708771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ARSITEKTUR MODEL &amp; HYPERPARAMETER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79235" y="4213225"/>
            <a:ext cx="446969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Hidden Layer: (128, 64)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Activation: ReLU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olver: Adam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terasi: 20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815916" y="3715224"/>
            <a:ext cx="4763935" cy="2685127"/>
          </a:xfrm>
          <a:custGeom>
            <a:avLst/>
            <a:gdLst/>
            <a:ahLst/>
            <a:cxnLst/>
            <a:rect r="r" b="b" t="t" l="l"/>
            <a:pathLst>
              <a:path h="2685127" w="4763935">
                <a:moveTo>
                  <a:pt x="0" y="0"/>
                </a:moveTo>
                <a:lnTo>
                  <a:pt x="4763935" y="0"/>
                </a:lnTo>
                <a:lnTo>
                  <a:pt x="4763935" y="2685127"/>
                </a:lnTo>
                <a:lnTo>
                  <a:pt x="0" y="2685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44390" y="8138320"/>
            <a:ext cx="13149135" cy="145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</a:p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Penjelasan:</a:t>
            </a: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Eksperimen dilakukan untuk melihat pengaruh parameter terhadap akurasi model.</a:t>
            </a:r>
          </a:p>
          <a:p>
            <a:pPr algn="l">
              <a:lnSpc>
                <a:spcPts val="28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44390" y="4168775"/>
            <a:ext cx="446969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Konfigurasi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4390" y="6409876"/>
            <a:ext cx="446969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 b="true">
                <a:solidFill>
                  <a:srgbClr val="060621"/>
                </a:solidFill>
                <a:latin typeface="XM Yekan Bold"/>
                <a:ea typeface="XM Yekan Bold"/>
                <a:cs typeface="XM Yekan Bold"/>
                <a:sym typeface="XM Yekan Bold"/>
              </a:rPr>
              <a:t>Hyperparameter yang diuji: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14080" y="6381301"/>
            <a:ext cx="446969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Arsitektur layer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Le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arning rate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egularisasi (alpha)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Solver</a:t>
            </a:r>
          </a:p>
          <a:p>
            <a:pPr algn="l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3193" y="7867658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4463786" y="0"/>
                </a:moveTo>
                <a:lnTo>
                  <a:pt x="0" y="0"/>
                </a:lnTo>
                <a:lnTo>
                  <a:pt x="0" y="4114800"/>
                </a:lnTo>
                <a:lnTo>
                  <a:pt x="4463786" y="4114800"/>
                </a:lnTo>
                <a:lnTo>
                  <a:pt x="44637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25429" y="1443208"/>
            <a:ext cx="1362703" cy="2725406"/>
          </a:xfrm>
          <a:custGeom>
            <a:avLst/>
            <a:gdLst/>
            <a:ahLst/>
            <a:cxnLst/>
            <a:rect r="r" b="b" t="t" l="l"/>
            <a:pathLst>
              <a:path h="2725406" w="1362703">
                <a:moveTo>
                  <a:pt x="0" y="0"/>
                </a:moveTo>
                <a:lnTo>
                  <a:pt x="1362703" y="0"/>
                </a:lnTo>
                <a:lnTo>
                  <a:pt x="1362703" y="2725406"/>
                </a:lnTo>
                <a:lnTo>
                  <a:pt x="0" y="272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44390" y="1923896"/>
            <a:ext cx="708771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PROSES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93416" y="3445002"/>
            <a:ext cx="4279144" cy="3293015"/>
            <a:chOff x="0" y="0"/>
            <a:chExt cx="1417750" cy="10910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7750" cy="1091030"/>
            </a:xfrm>
            <a:custGeom>
              <a:avLst/>
              <a:gdLst/>
              <a:ahLst/>
              <a:cxnLst/>
              <a:rect r="r" b="b" t="t" l="l"/>
              <a:pathLst>
                <a:path h="1091030" w="1417750">
                  <a:moveTo>
                    <a:pt x="0" y="0"/>
                  </a:moveTo>
                  <a:lnTo>
                    <a:pt x="1417750" y="0"/>
                  </a:lnTo>
                  <a:lnTo>
                    <a:pt x="1417750" y="1091030"/>
                  </a:lnTo>
                  <a:lnTo>
                    <a:pt x="0" y="109103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417750" cy="108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19453" y="4706096"/>
            <a:ext cx="2827069" cy="36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Forward</a:t>
            </a: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 Pass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3416" y="5307325"/>
            <a:ext cx="4279144" cy="116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Menghasilkan prediksi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3416" y="3880544"/>
            <a:ext cx="4279144" cy="5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004428" y="3420004"/>
            <a:ext cx="4279144" cy="3293015"/>
            <a:chOff x="0" y="0"/>
            <a:chExt cx="1417750" cy="10910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7750" cy="1091030"/>
            </a:xfrm>
            <a:custGeom>
              <a:avLst/>
              <a:gdLst/>
              <a:ahLst/>
              <a:cxnLst/>
              <a:rect r="r" b="b" t="t" l="l"/>
              <a:pathLst>
                <a:path h="1091030" w="1417750">
                  <a:moveTo>
                    <a:pt x="0" y="0"/>
                  </a:moveTo>
                  <a:lnTo>
                    <a:pt x="1417750" y="0"/>
                  </a:lnTo>
                  <a:lnTo>
                    <a:pt x="1417750" y="1091030"/>
                  </a:lnTo>
                  <a:lnTo>
                    <a:pt x="0" y="109103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417750" cy="108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730465" y="4681098"/>
            <a:ext cx="2827069" cy="36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Hitung</a:t>
            </a: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 Loss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04428" y="5282327"/>
            <a:ext cx="4279144" cy="116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Selisih prediksi dan data asli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4428" y="3855546"/>
            <a:ext cx="4279144" cy="5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15440" y="3395006"/>
            <a:ext cx="4279144" cy="3293015"/>
            <a:chOff x="0" y="0"/>
            <a:chExt cx="1417750" cy="1091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7750" cy="1091030"/>
            </a:xfrm>
            <a:custGeom>
              <a:avLst/>
              <a:gdLst/>
              <a:ahLst/>
              <a:cxnLst/>
              <a:rect r="r" b="b" t="t" l="l"/>
              <a:pathLst>
                <a:path h="1091030" w="1417750">
                  <a:moveTo>
                    <a:pt x="0" y="0"/>
                  </a:moveTo>
                  <a:lnTo>
                    <a:pt x="1417750" y="0"/>
                  </a:lnTo>
                  <a:lnTo>
                    <a:pt x="1417750" y="1091030"/>
                  </a:lnTo>
                  <a:lnTo>
                    <a:pt x="0" y="109103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417750" cy="108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41477" y="4656100"/>
            <a:ext cx="2827069" cy="36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Backprop</a:t>
            </a:r>
            <a:r>
              <a:rPr lang="en-US" b="true" sz="2384">
                <a:solidFill>
                  <a:srgbClr val="06062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agation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15440" y="5257330"/>
            <a:ext cx="4279144" cy="5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Update bobot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15440" y="3830548"/>
            <a:ext cx="4279144" cy="58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b="true" sz="3938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3193" y="7867658"/>
            <a:ext cx="4463787" cy="4114800"/>
          </a:xfrm>
          <a:custGeom>
            <a:avLst/>
            <a:gdLst/>
            <a:ahLst/>
            <a:cxnLst/>
            <a:rect r="r" b="b" t="t" l="l"/>
            <a:pathLst>
              <a:path h="4114800" w="4463787">
                <a:moveTo>
                  <a:pt x="4463786" y="0"/>
                </a:moveTo>
                <a:lnTo>
                  <a:pt x="0" y="0"/>
                </a:lnTo>
                <a:lnTo>
                  <a:pt x="0" y="4114800"/>
                </a:lnTo>
                <a:lnTo>
                  <a:pt x="4463786" y="4114800"/>
                </a:lnTo>
                <a:lnTo>
                  <a:pt x="44637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25429" y="1443208"/>
            <a:ext cx="1362703" cy="2725406"/>
          </a:xfrm>
          <a:custGeom>
            <a:avLst/>
            <a:gdLst/>
            <a:ahLst/>
            <a:cxnLst/>
            <a:rect r="r" b="b" t="t" l="l"/>
            <a:pathLst>
              <a:path h="2725406" w="1362703">
                <a:moveTo>
                  <a:pt x="0" y="0"/>
                </a:moveTo>
                <a:lnTo>
                  <a:pt x="1362703" y="0"/>
                </a:lnTo>
                <a:lnTo>
                  <a:pt x="1362703" y="2725406"/>
                </a:lnTo>
                <a:lnTo>
                  <a:pt x="0" y="272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4381" y="3103224"/>
            <a:ext cx="7687984" cy="6000377"/>
          </a:xfrm>
          <a:custGeom>
            <a:avLst/>
            <a:gdLst/>
            <a:ahLst/>
            <a:cxnLst/>
            <a:rect r="r" b="b" t="t" l="l"/>
            <a:pathLst>
              <a:path h="6000377" w="7687984">
                <a:moveTo>
                  <a:pt x="0" y="0"/>
                </a:moveTo>
                <a:lnTo>
                  <a:pt x="7687984" y="0"/>
                </a:lnTo>
                <a:lnTo>
                  <a:pt x="7687984" y="6000377"/>
                </a:lnTo>
                <a:lnTo>
                  <a:pt x="0" y="6000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56290" y="1023430"/>
            <a:ext cx="708771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HASIL TRAINING (LOSS)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90778" y="5996741"/>
            <a:ext cx="708771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ANALISIS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0778" y="3234197"/>
            <a:ext cx="4469690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Los</a:t>
            </a: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 awal:  0.41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Loss akhir:  0.007</a:t>
            </a:r>
          </a:p>
          <a:p>
            <a:pPr algn="l">
              <a:lnSpc>
                <a:spcPts val="28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128628" y="4421941"/>
            <a:ext cx="4469690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Kesimpulannya, bahwa model berhasil belajar karena error menurun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0778" y="7379771"/>
            <a:ext cx="446969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Loss menurun signifikan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Model sudah belajar dengan baik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Namun iterasi masih sedikit sehingga belum optimal</a:t>
            </a:r>
          </a:p>
          <a:p>
            <a:pPr algn="l">
              <a:lnSpc>
                <a:spcPts val="28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2908" y="5674866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1893" y="152886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11069" y="1941669"/>
            <a:ext cx="8065861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EVALUASI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52490" y="3581874"/>
            <a:ext cx="5383020" cy="53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3500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HASIL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1544" y="4315711"/>
            <a:ext cx="1193061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Model yang diuji pada data test menghasilkan</a:t>
            </a:r>
          </a:p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Accuracy: 0.9724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30454" y="5785736"/>
            <a:ext cx="7027093" cy="3239834"/>
            <a:chOff x="0" y="0"/>
            <a:chExt cx="1850757" cy="8532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0757" cy="853290"/>
            </a:xfrm>
            <a:custGeom>
              <a:avLst/>
              <a:gdLst/>
              <a:ahLst/>
              <a:cxnLst/>
              <a:rect r="r" b="b" t="t" l="l"/>
              <a:pathLst>
                <a:path h="853290" w="1850757">
                  <a:moveTo>
                    <a:pt x="0" y="0"/>
                  </a:moveTo>
                  <a:lnTo>
                    <a:pt x="1850757" y="0"/>
                  </a:lnTo>
                  <a:lnTo>
                    <a:pt x="1850757" y="853290"/>
                  </a:lnTo>
                  <a:lnTo>
                    <a:pt x="0" y="85329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850757" cy="843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452490" y="6200375"/>
            <a:ext cx="5383020" cy="53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3500">
                <a:solidFill>
                  <a:srgbClr val="0F0CB0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PENJELASAN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90821" y="6950040"/>
            <a:ext cx="650635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4"/>
              </a:lnSpc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Sehingga menunjukkan tingkat ketepatan prediksi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2908" y="5674866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1893" y="152886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19854" y="1652597"/>
            <a:ext cx="7448292" cy="6079669"/>
          </a:xfrm>
          <a:custGeom>
            <a:avLst/>
            <a:gdLst/>
            <a:ahLst/>
            <a:cxnLst/>
            <a:rect r="r" b="b" t="t" l="l"/>
            <a:pathLst>
              <a:path h="6079669" w="7448292">
                <a:moveTo>
                  <a:pt x="0" y="0"/>
                </a:moveTo>
                <a:lnTo>
                  <a:pt x="7448292" y="0"/>
                </a:lnTo>
                <a:lnTo>
                  <a:pt x="7448292" y="6079669"/>
                </a:lnTo>
                <a:lnTo>
                  <a:pt x="0" y="6079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69885" y="397510"/>
            <a:ext cx="12148231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HASIL PREDIKSI : CONFUSION MATRIX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5587" y="8293018"/>
            <a:ext cx="6816827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Model masih salah pada beberapa angka</a:t>
            </a:r>
          </a:p>
          <a:p>
            <a:pPr algn="ctr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Contoh angka yang mirip sering tertukar yaitu 7 dan 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25000">
              <a:srgbClr val="EDEDED">
                <a:alpha val="100000"/>
              </a:srgbClr>
            </a:gs>
            <a:gs pos="50000">
              <a:srgbClr val="FFFFFF">
                <a:alpha val="100000"/>
              </a:srgbClr>
            </a:gs>
            <a:gs pos="75000">
              <a:srgbClr val="F5F5F5">
                <a:alpha val="100000"/>
              </a:srgbClr>
            </a:gs>
            <a:gs pos="100000">
              <a:srgbClr val="F5F5F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2908" y="5674866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1893" y="152886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11069" y="850900"/>
            <a:ext cx="8065861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KESIMPULAN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42154" y="850900"/>
            <a:ext cx="2537648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8"/>
              </a:lnSpc>
            </a:pPr>
            <a:r>
              <a:rPr lang="en-US" sz="2300">
                <a:solidFill>
                  <a:srgbClr val="0F0CB0"/>
                </a:solidFill>
                <a:latin typeface="XM Yekan"/>
                <a:ea typeface="XM Yekan"/>
                <a:cs typeface="XM Yekan"/>
                <a:sym typeface="XM Yekan"/>
              </a:rPr>
              <a:t>16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630454" y="2435395"/>
            <a:ext cx="7027093" cy="3239834"/>
            <a:chOff x="0" y="0"/>
            <a:chExt cx="1850757" cy="8532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0757" cy="853290"/>
            </a:xfrm>
            <a:custGeom>
              <a:avLst/>
              <a:gdLst/>
              <a:ahLst/>
              <a:cxnLst/>
              <a:rect r="r" b="b" t="t" l="l"/>
              <a:pathLst>
                <a:path h="853290" w="1850757">
                  <a:moveTo>
                    <a:pt x="0" y="0"/>
                  </a:moveTo>
                  <a:lnTo>
                    <a:pt x="1850757" y="0"/>
                  </a:lnTo>
                  <a:lnTo>
                    <a:pt x="1850757" y="853290"/>
                  </a:lnTo>
                  <a:lnTo>
                    <a:pt x="0" y="85329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850757" cy="843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72751" y="3334587"/>
            <a:ext cx="6742499" cy="145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MLP dapat mengenali angka dengan baik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Loss yang kecil menunjukkan model akurat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Parameter seperti iterasi sangat berpengaruh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11069" y="6368599"/>
            <a:ext cx="8065861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b="true" sz="6000">
                <a:gradFill>
                  <a:gsLst>
                    <a:gs pos="0">
                      <a:srgbClr val="0F0CB0">
                        <a:alpha val="100000"/>
                      </a:srgbClr>
                    </a:gs>
                    <a:gs pos="33333">
                      <a:srgbClr val="0E0870">
                        <a:alpha val="100000"/>
                      </a:srgbClr>
                    </a:gs>
                    <a:gs pos="66667">
                      <a:srgbClr val="11098B">
                        <a:alpha val="100000"/>
                      </a:srgbClr>
                    </a:gs>
                    <a:gs pos="100000">
                      <a:srgbClr val="2B1FDF">
                        <a:alpha val="100000"/>
                      </a:srgbClr>
                    </a:gs>
                  </a:gsLst>
                  <a:lin ang="5400000"/>
                </a:gradFill>
                <a:latin typeface="Archivo Narrow Bold"/>
                <a:ea typeface="Archivo Narrow Bold"/>
                <a:cs typeface="Archivo Narrow Bold"/>
                <a:sym typeface="Archivo Narrow Bold"/>
              </a:rPr>
              <a:t>SARAN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630454" y="7539012"/>
            <a:ext cx="7027093" cy="1926290"/>
            <a:chOff x="0" y="0"/>
            <a:chExt cx="1850757" cy="5073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50757" cy="507336"/>
            </a:xfrm>
            <a:custGeom>
              <a:avLst/>
              <a:gdLst/>
              <a:ahLst/>
              <a:cxnLst/>
              <a:rect r="r" b="b" t="t" l="l"/>
              <a:pathLst>
                <a:path h="507336" w="1850757">
                  <a:moveTo>
                    <a:pt x="0" y="0"/>
                  </a:moveTo>
                  <a:lnTo>
                    <a:pt x="1850757" y="0"/>
                  </a:lnTo>
                  <a:lnTo>
                    <a:pt x="1850757" y="507336"/>
                  </a:lnTo>
                  <a:lnTo>
                    <a:pt x="0" y="50733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EDEDED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5F5F5">
                    <a:alpha val="100000"/>
                  </a:srgbClr>
                </a:gs>
                <a:gs pos="100000">
                  <a:srgbClr val="F5F5F5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0F0CB0">
                      <a:alpha val="100000"/>
                    </a:srgbClr>
                  </a:gs>
                  <a:gs pos="25000">
                    <a:srgbClr val="0E0870">
                      <a:alpha val="100000"/>
                    </a:srgbClr>
                  </a:gs>
                  <a:gs pos="50000">
                    <a:srgbClr val="11098B">
                      <a:alpha val="100000"/>
                    </a:srgbClr>
                  </a:gs>
                  <a:gs pos="75000">
                    <a:srgbClr val="2B1FDF">
                      <a:alpha val="100000"/>
                    </a:srgbClr>
                  </a:gs>
                  <a:gs pos="100000">
                    <a:srgbClr val="AEABC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850757" cy="497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15048" y="7932002"/>
            <a:ext cx="6742499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Menambah jumlah iterasi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Mencoba arsitektur berbeda</a:t>
            </a:r>
          </a:p>
          <a:p>
            <a:pPr algn="l" marL="539749" indent="-269875" lvl="1">
              <a:lnSpc>
                <a:spcPts val="2899"/>
              </a:lnSpc>
              <a:buFont typeface="Arial"/>
              <a:buChar char="•"/>
            </a:pPr>
            <a:r>
              <a:rPr lang="en-US" sz="2499">
                <a:solidFill>
                  <a:srgbClr val="060621"/>
                </a:solidFill>
                <a:latin typeface="XM Yekan"/>
                <a:ea typeface="XM Yekan"/>
                <a:cs typeface="XM Yekan"/>
                <a:sym typeface="XM Yekan"/>
              </a:rPr>
              <a:t>Menggunakan dataset lebih kompleks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DAHI7Oki_L8</dc:identifier>
  <dcterms:modified xsi:type="dcterms:W3CDTF">2011-08-01T06:04:30Z</dcterms:modified>
  <cp:revision>1</cp:revision>
  <dc:title>Pengenalan Angka Tulisan Tangan Menggunakan Neural Network (MLP)</dc:title>
</cp:coreProperties>
</file>